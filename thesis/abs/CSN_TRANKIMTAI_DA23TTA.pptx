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59" r:id="rId6"/>
    <p:sldId id="260" r:id="rId7"/>
    <p:sldId id="275" r:id="rId8"/>
    <p:sldId id="276" r:id="rId9"/>
    <p:sldId id="277" r:id="rId10"/>
    <p:sldId id="278" r:id="rId11"/>
    <p:sldId id="261" r:id="rId12"/>
    <p:sldId id="262" r:id="rId13"/>
    <p:sldId id="263" r:id="rId14"/>
    <p:sldId id="281" r:id="rId15"/>
    <p:sldId id="271" r:id="rId16"/>
    <p:sldId id="280" r:id="rId17"/>
    <p:sldId id="279" r:id="rId18"/>
    <p:sldId id="265" r:id="rId19"/>
    <p:sldId id="266" r:id="rId20"/>
    <p:sldId id="283" r:id="rId21"/>
    <p:sldId id="284" r:id="rId22"/>
    <p:sldId id="268" r:id="rId23"/>
    <p:sldId id="269" r:id="rId24"/>
    <p:sldId id="272" r:id="rId25"/>
  </p:sldIdLst>
  <p:sldSz cx="18288000" cy="10287000"/>
  <p:notesSz cx="6858000" cy="9144000"/>
  <p:embeddedFontLst>
    <p:embeddedFont>
      <p:font typeface="Gilda Display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4A21"/>
    <a:srgbClr val="F4F3EF"/>
    <a:srgbClr val="5A6E42"/>
    <a:srgbClr val="669900"/>
    <a:srgbClr val="AFC298"/>
    <a:srgbClr val="0080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87299" y="5676900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sz="4400">
              <a:latin typeface="+mj-lt"/>
              <a:cs typeface="Arial" panose="020B0604020202020204" pitchFamily="34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078956" y="5342218"/>
            <a:ext cx="12130088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 b="1">
                <a:solidFill>
                  <a:srgbClr val="5A6E42"/>
                </a:solidFill>
                <a:latin typeface="+mj-lt"/>
                <a:cs typeface="Arial" panose="020B0604020202020204" pitchFamily="34" charset="0"/>
              </a:rPr>
              <a:t>THIẾT KẾ VÀ CÀI ĐẶT CƠ SỞ DỮ LIỆU NOSQL CHO HỆ THỐNG QUẢN LÝ SINH VIÊN CỦA MỘT TRƯỜNG ĐẠI HỌC</a:t>
            </a:r>
            <a:endParaRPr lang="en-US" sz="6000">
              <a:solidFill>
                <a:srgbClr val="5A6E4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315200" y="9258300"/>
            <a:ext cx="3657600" cy="406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</a:pPr>
            <a:r>
              <a:rPr lang="en-US" sz="3200">
                <a:solidFill>
                  <a:srgbClr val="5A6E42"/>
                </a:solidFill>
                <a:latin typeface="+mj-lt"/>
                <a:ea typeface="HK Grotesk Light"/>
                <a:cs typeface="Arial" panose="020B0604020202020204" pitchFamily="34" charset="0"/>
                <a:sym typeface="HK Grotesk Light"/>
              </a:rPr>
              <a:t>Trần Kim Tài DA23TTA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46A0A1-1513-2369-3975-0D97357FD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229600" y="1535311"/>
            <a:ext cx="1828800" cy="1798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reeform 2">
            <a:extLst>
              <a:ext uri="{FF2B5EF4-FFF2-40B4-BE49-F238E27FC236}">
                <a16:creationId xmlns:a16="http://schemas.microsoft.com/office/drawing/2014/main" id="{1316F6A6-2D3B-4CB8-36F8-9B9FF00E7D45}"/>
              </a:ext>
            </a:extLst>
          </p:cNvPr>
          <p:cNvSpPr/>
          <p:nvPr/>
        </p:nvSpPr>
        <p:spPr>
          <a:xfrm>
            <a:off x="-4267200" y="-5149874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sz="440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867D87-E9E9-8CAE-7A35-2996485A80CF}"/>
              </a:ext>
            </a:extLst>
          </p:cNvPr>
          <p:cNvSpPr txBox="1"/>
          <p:nvPr/>
        </p:nvSpPr>
        <p:spPr>
          <a:xfrm>
            <a:off x="5600700" y="3688293"/>
            <a:ext cx="70865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6000">
                <a:solidFill>
                  <a:srgbClr val="5A6E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ĐỒ ÁN CƠ SỞ NGÀNH</a:t>
            </a:r>
            <a:endParaRPr lang="en-US" sz="6000">
              <a:solidFill>
                <a:srgbClr val="5A6E4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3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998220" y="190500"/>
            <a:ext cx="12639675" cy="1049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8799"/>
              </a:lnSpc>
            </a:pPr>
            <a:r>
              <a:rPr lang="en-US" sz="6000" b="1">
                <a:solidFill>
                  <a:srgbClr val="3A4A21"/>
                </a:solidFill>
              </a:rPr>
              <a:t>LÝ DO CHỌN ĐỀ TÀI</a:t>
            </a:r>
            <a:endParaRPr lang="en-US" sz="6000" b="1">
              <a:solidFill>
                <a:srgbClr val="3A4A21"/>
              </a:solidFill>
              <a:latin typeface="+mj-lt"/>
              <a:ea typeface="Tahoma" panose="020B0604030504040204" pitchFamily="34" charset="0"/>
              <a:cs typeface="Tahoma" panose="020B0604030504040204" pitchFamily="34" charset="0"/>
              <a:sym typeface="Gilda Display"/>
            </a:endParaRPr>
          </a:p>
        </p:txBody>
      </p:sp>
      <p:sp>
        <p:nvSpPr>
          <p:cNvPr id="5" name="Freeform 5"/>
          <p:cNvSpPr/>
          <p:nvPr/>
        </p:nvSpPr>
        <p:spPr>
          <a:xfrm rot="-1268288">
            <a:off x="14795639" y="5873497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Freeform 6"/>
          <p:cNvSpPr/>
          <p:nvPr/>
        </p:nvSpPr>
        <p:spPr>
          <a:xfrm rot="-1268288">
            <a:off x="-6005389" y="-6781594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62B9F0D-B559-16B2-927E-6BA611A89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740" y="1650369"/>
            <a:ext cx="16291559" cy="8141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vi-VN" sz="3200" b="1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Bối cảnh thực tế</a:t>
            </a:r>
            <a:endParaRPr lang="vi-VN" sz="3200">
              <a:solidFill>
                <a:srgbClr val="3A4A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vi-VN" sz="32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Hệ thống quản lý sinh viên hiện nay phải xử lý dữ liệu lớn và đa dạng (Hồ sơ, Lớp, Khoa...) .</a:t>
            </a: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vi-VN" sz="32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Đa số vẫn sử dụng mô hình</a:t>
            </a:r>
            <a:r>
              <a:rPr lang="en-US" sz="32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32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 truyền thống.</a:t>
            </a:r>
          </a:p>
          <a:p>
            <a:pPr>
              <a:lnSpc>
                <a:spcPct val="150000"/>
              </a:lnSpc>
            </a:pPr>
            <a:r>
              <a:rPr lang="vi-VN" sz="3200" b="1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Hạn chế của mô hình cũ (SQL)</a:t>
            </a:r>
            <a:endParaRPr lang="vi-VN" sz="3200">
              <a:solidFill>
                <a:srgbClr val="3A4A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vi-VN" sz="32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Thiếu linh hoạt: Cấu trúc bảng cố định, khó thay đổi khi quy chế đào tạo thay đổi.</a:t>
            </a: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vi-VN" sz="32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Hiệu năng thấp: Truy xuất hồ sơ chi tiết phải thực hiện nhiều phép nối bảng (JOIN) phức tạp, làm giảm tốc độ.</a:t>
            </a: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vi-VN" sz="32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Khó mở rộng: Chi phí nâng cấp hệ thống cao khi dữ liệu tăng trưởng.</a:t>
            </a:r>
          </a:p>
          <a:p>
            <a:pPr>
              <a:lnSpc>
                <a:spcPct val="150000"/>
              </a:lnSpc>
            </a:pPr>
            <a:r>
              <a:rPr lang="vi-VN" sz="3200" b="1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Hướng giải quyết</a:t>
            </a:r>
            <a:endParaRPr lang="vi-VN" sz="3200">
              <a:solidFill>
                <a:srgbClr val="3A4A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Sử dụng mô hình</a:t>
            </a:r>
            <a:r>
              <a:rPr lang="vi-VN" sz="32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Cơ sở dữ liệu NoSQL (MongoDB).</a:t>
            </a: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vi-VN" sz="32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Tận dụng mô hình lưu trữ Document (JSON/BSON) để tăng tính linh hoạt và tốc độ.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1990" y="571500"/>
            <a:ext cx="12639675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6000" b="1">
                <a:solidFill>
                  <a:srgbClr val="3A4A21"/>
                </a:solidFill>
              </a:rPr>
              <a:t>MỤC TIÊU &amp; GIẢI PHÁP NGHIÊN CỨU</a:t>
            </a:r>
          </a:p>
        </p:txBody>
      </p:sp>
      <p:sp>
        <p:nvSpPr>
          <p:cNvPr id="6" name="Freeform 6"/>
          <p:cNvSpPr/>
          <p:nvPr/>
        </p:nvSpPr>
        <p:spPr>
          <a:xfrm rot="-1268288">
            <a:off x="14795639" y="5873497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2527B0F-6153-2C24-860B-3C5F5B2B0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62100"/>
            <a:ext cx="16920210" cy="8095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1. Mục tiêu cốt lõi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>
                <a:solidFill>
                  <a:srgbClr val="3A4A21"/>
                </a:solidFill>
                <a:latin typeface="+mj-lt"/>
              </a:rPr>
              <a:t>- </a:t>
            </a: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Xây dựng mô hình dữ liệu tối ưu cho các thao tác </a:t>
            </a: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Đọc (Read-heavy)</a:t>
            </a: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Đảm bảo hệ thống dễ dàng mở rộng và tích hợp tính năng mới 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2. Giải pháp kỹ thuật chủ đạo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Chiến lược Nhúng (Embedding): Đưa toàn bộ thông tin Lớp, Khoa, Cố vấn học tập vào trực tiếp Document Sinh viên.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>
                <a:solidFill>
                  <a:srgbClr val="3A4A21"/>
                </a:solidFill>
                <a:latin typeface="+mj-lt"/>
              </a:rPr>
              <a:t>- </a:t>
            </a: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Kết quả: Loại bỏ hoàn toàn phép JOIN, truy xuất hồ sơ chỉ với 1 truy vấn.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Công cụ Aggregation: Sử dụng để xử lý báo cáo thống kê phức tạp theo thời gian thực.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3. Phạm vi thực hiện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Thiết kế lược đồ CSDL NoSQL quản lý lý lịch sinh viên.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Cài đặt và thử nghiệm trên </a:t>
            </a: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MongoDB</a:t>
            </a: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A54FB-EC24-741F-A7E0-25A5000F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5404953D-4876-3016-1F29-1683FB538431}"/>
              </a:ext>
            </a:extLst>
          </p:cNvPr>
          <p:cNvSpPr txBox="1"/>
          <p:nvPr/>
        </p:nvSpPr>
        <p:spPr>
          <a:xfrm>
            <a:off x="514350" y="1429648"/>
            <a:ext cx="10534650" cy="80364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vi-VN" sz="3000" b="1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Khái niệm:</a:t>
            </a:r>
            <a:endParaRPr lang="vi-VN" sz="3000">
              <a:solidFill>
                <a:srgbClr val="3A4A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sz="30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vi-VN" sz="30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NoSQL (Not Only SQL): Hệ thống quản lý dữ liệu phi quan hệ </a:t>
            </a:r>
            <a:br>
              <a:rPr lang="en-US" sz="30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vi-VN" sz="30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(Non-relational).</a:t>
            </a:r>
          </a:p>
          <a:p>
            <a:pPr>
              <a:lnSpc>
                <a:spcPct val="125000"/>
              </a:lnSpc>
            </a:pPr>
            <a:r>
              <a:rPr lang="en-US" sz="30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vi-VN" sz="30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Đặc trưng:</a:t>
            </a:r>
            <a:endParaRPr lang="en-US" sz="3000">
              <a:solidFill>
                <a:srgbClr val="3A4A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180000">
              <a:lnSpc>
                <a:spcPct val="125000"/>
              </a:lnSpc>
            </a:pPr>
            <a:r>
              <a:rPr lang="en-US" sz="30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+ </a:t>
            </a:r>
            <a:r>
              <a:rPr lang="vi-VN" sz="30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Sở hữu lược đồ linh hoạt (Flexible Schema/Schema-less).</a:t>
            </a:r>
            <a:endParaRPr lang="en-US" sz="3000">
              <a:solidFill>
                <a:srgbClr val="3A4A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sz="30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+ </a:t>
            </a:r>
            <a:r>
              <a:rPr lang="vi-VN" sz="30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Khả năng mở rộng dễ dàng (Scalability) khi dữ liệu tăng trưởng.</a:t>
            </a:r>
          </a:p>
          <a:p>
            <a:pPr>
              <a:lnSpc>
                <a:spcPct val="125000"/>
              </a:lnSpc>
            </a:pPr>
            <a:r>
              <a:rPr lang="vi-VN" sz="3000" b="1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Lịch sử &amp; Ứng dụng:</a:t>
            </a:r>
            <a:endParaRPr lang="vi-VN" sz="3000">
              <a:solidFill>
                <a:srgbClr val="3A4A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sz="30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vi-VN" sz="30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 đời cuối thế kỷ XX nhằm giải quyết bài toán dữ liệu phức tạp (có cấu trúc, bán cấu trúc, phi cấu trúc).</a:t>
            </a:r>
          </a:p>
          <a:p>
            <a:pPr>
              <a:lnSpc>
                <a:spcPct val="125000"/>
              </a:lnSpc>
            </a:pPr>
            <a:r>
              <a:rPr lang="en-US" sz="30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vi-VN" sz="30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Ứng dụng chính:</a:t>
            </a:r>
            <a:endParaRPr lang="en-US" sz="3000">
              <a:solidFill>
                <a:srgbClr val="3A4A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sz="30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+ </a:t>
            </a:r>
            <a:r>
              <a:rPr lang="vi-VN" sz="30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 kho dữ liệu phân tán lưu trữ lượng dữ liệu cực lớn (BigData).</a:t>
            </a:r>
            <a:endParaRPr lang="en-US" sz="3000">
              <a:solidFill>
                <a:srgbClr val="3A4A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sz="30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+ </a:t>
            </a:r>
            <a:r>
              <a:rPr lang="vi-VN" sz="30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 ứng dụng Web yêu cầu xử lý thời gian thực (Real-time).</a:t>
            </a:r>
            <a:endParaRPr lang="en-US" sz="3000">
              <a:solidFill>
                <a:srgbClr val="3A4A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sz="30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+ </a:t>
            </a:r>
            <a:r>
              <a:rPr lang="vi-VN" sz="30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Phân phối dữ liệu trên nền tảng điện toán đám mây.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B39E757-A7D8-86D9-73D0-D2D80D48C63E}"/>
              </a:ext>
            </a:extLst>
          </p:cNvPr>
          <p:cNvSpPr txBox="1"/>
          <p:nvPr/>
        </p:nvSpPr>
        <p:spPr>
          <a:xfrm>
            <a:off x="651510" y="266700"/>
            <a:ext cx="10915651" cy="1049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8799"/>
              </a:lnSpc>
            </a:pPr>
            <a:r>
              <a:rPr lang="en-US" sz="6000" b="1">
                <a:solidFill>
                  <a:srgbClr val="3A4A21"/>
                </a:solidFill>
              </a:rPr>
              <a:t>TỔNG QUAN VỀ NOSQL</a:t>
            </a:r>
            <a:endParaRPr lang="en-US" sz="6000" b="1">
              <a:solidFill>
                <a:srgbClr val="3A4A21"/>
              </a:solidFill>
              <a:latin typeface="+mj-lt"/>
              <a:ea typeface="Gilda Display"/>
              <a:cs typeface="Gilda Display"/>
              <a:sym typeface="Gilda Display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B8FD2BA-7801-F443-5B77-D966459C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0" y="2014537"/>
            <a:ext cx="8534400" cy="6257925"/>
          </a:xfrm>
          <a:prstGeom prst="rect">
            <a:avLst/>
          </a:prstGeom>
        </p:spPr>
      </p:pic>
      <p:sp>
        <p:nvSpPr>
          <p:cNvPr id="9" name="Freeform 2">
            <a:extLst>
              <a:ext uri="{FF2B5EF4-FFF2-40B4-BE49-F238E27FC236}">
                <a16:creationId xmlns:a16="http://schemas.microsoft.com/office/drawing/2014/main" id="{3425EE01-D2EE-6264-881C-6F781A2D8853}"/>
              </a:ext>
            </a:extLst>
          </p:cNvPr>
          <p:cNvSpPr/>
          <p:nvPr/>
        </p:nvSpPr>
        <p:spPr>
          <a:xfrm rot="12996345">
            <a:off x="15555974" y="-5337067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621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3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527442">
            <a:off x="14501108" y="-5422317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431295" y="249311"/>
            <a:ext cx="13658849" cy="1049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8799"/>
              </a:lnSpc>
            </a:pPr>
            <a:r>
              <a:rPr lang="vi-VN" sz="6000" b="1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 </a:t>
            </a:r>
            <a:r>
              <a:rPr lang="en-US" sz="6000" b="1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MÔ HÌNH </a:t>
            </a:r>
            <a:r>
              <a:rPr lang="vi-VN" sz="6000" b="1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CƠ SỞ DỮ LIỆU NOSQL</a:t>
            </a:r>
            <a:endParaRPr lang="en-US" sz="6000" b="1">
              <a:solidFill>
                <a:srgbClr val="3A4A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ilda Display"/>
            </a:endParaRPr>
          </a:p>
        </p:txBody>
      </p:sp>
      <p:pic>
        <p:nvPicPr>
          <p:cNvPr id="31" name="Picture 30" descr="A diagram of a table&#10;&#10;AI-generated content may be incorrect.">
            <a:extLst>
              <a:ext uri="{FF2B5EF4-FFF2-40B4-BE49-F238E27FC236}">
                <a16:creationId xmlns:a16="http://schemas.microsoft.com/office/drawing/2014/main" id="{61C14D42-A552-42B7-A100-25EB44D6A3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0144" y="1504941"/>
            <a:ext cx="3379215" cy="4183380"/>
          </a:xfrm>
          <a:prstGeom prst="rect">
            <a:avLst/>
          </a:prstGeom>
        </p:spPr>
      </p:pic>
      <p:pic>
        <p:nvPicPr>
          <p:cNvPr id="33" name="Picture 32" descr="A diagram of a document&#10;&#10;AI-generated content may be incorrect.">
            <a:extLst>
              <a:ext uri="{FF2B5EF4-FFF2-40B4-BE49-F238E27FC236}">
                <a16:creationId xmlns:a16="http://schemas.microsoft.com/office/drawing/2014/main" id="{ECA54171-BDBA-989D-8D18-5769C735FA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854" y="1489665"/>
            <a:ext cx="3379215" cy="4198656"/>
          </a:xfrm>
          <a:prstGeom prst="rect">
            <a:avLst/>
          </a:prstGeom>
        </p:spPr>
      </p:pic>
      <p:pic>
        <p:nvPicPr>
          <p:cNvPr id="35" name="Picture 34" descr="A diagram of a graph&#10;&#10;AI-generated content may be incorrect.">
            <a:extLst>
              <a:ext uri="{FF2B5EF4-FFF2-40B4-BE49-F238E27FC236}">
                <a16:creationId xmlns:a16="http://schemas.microsoft.com/office/drawing/2014/main" id="{4ECC89F8-94D2-E441-1682-DC40E01341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141" y="1518702"/>
            <a:ext cx="3379215" cy="4169619"/>
          </a:xfrm>
          <a:prstGeom prst="rect">
            <a:avLst/>
          </a:prstGeom>
        </p:spPr>
      </p:pic>
      <p:pic>
        <p:nvPicPr>
          <p:cNvPr id="37" name="Picture 36" descr="A diagram of a key value&#10;&#10;AI-generated content may be incorrect.">
            <a:extLst>
              <a:ext uri="{FF2B5EF4-FFF2-40B4-BE49-F238E27FC236}">
                <a16:creationId xmlns:a16="http://schemas.microsoft.com/office/drawing/2014/main" id="{123B3D4A-B719-C257-D0A7-95080CC03E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493" y="1489665"/>
            <a:ext cx="3379215" cy="4198656"/>
          </a:xfrm>
          <a:prstGeom prst="rect">
            <a:avLst/>
          </a:prstGeom>
        </p:spPr>
      </p:pic>
      <p:sp>
        <p:nvSpPr>
          <p:cNvPr id="38" name="Rectangle 1">
            <a:extLst>
              <a:ext uri="{FF2B5EF4-FFF2-40B4-BE49-F238E27FC236}">
                <a16:creationId xmlns:a16="http://schemas.microsoft.com/office/drawing/2014/main" id="{A1BCCC4A-F878-77D7-CD99-76F60ADB4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556" y="6134100"/>
            <a:ext cx="4076250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000">
                <a:solidFill>
                  <a:srgbClr val="3A4A21"/>
                </a:solidFill>
                <a:latin typeface="+mj-lt"/>
              </a:rPr>
              <a:t>- </a:t>
            </a:r>
            <a:r>
              <a:rPr kumimoji="0" lang="en-US" altLang="en-US" sz="300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Đặc điểm: Truy xuất dữ liệu cực nhanh thông qua Key duy nhất.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Đại diện: Redis, MemCache… Dùng làm Cache, Session.</a:t>
            </a:r>
          </a:p>
        </p:txBody>
      </p:sp>
      <p:sp>
        <p:nvSpPr>
          <p:cNvPr id="39" name="Rectangle 2">
            <a:extLst>
              <a:ext uri="{FF2B5EF4-FFF2-40B4-BE49-F238E27FC236}">
                <a16:creationId xmlns:a16="http://schemas.microsoft.com/office/drawing/2014/main" id="{A2C0F357-2F73-3139-1A2F-8F836DF97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1152" y="6134100"/>
            <a:ext cx="4237662" cy="3739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Đặc điểm: Dữ liệu lưu dưới dạng JSON/BSON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/XML. Linh hoạt them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/sửa thuộc tính mà không cần đổi cấu trúc bảng.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Đại diện: MongoDB, CouchDB… Dùng cho Big Data, CMS, E-commerce.</a:t>
            </a: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F71065AD-4628-C7C6-1376-45FFB6101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85623" y="6364932"/>
            <a:ext cx="4031580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Đặc điểm: Lưu dữ liệu theo cột thay vì hàng. Tối ưu cho việc ghi lượng lớn dữ liệu.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00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Đại diện: Cassandra, </a:t>
            </a:r>
            <a:r>
              <a:rPr lang="en-US" sz="3000">
                <a:solidFill>
                  <a:srgbClr val="3A4A21"/>
                </a:solidFill>
              </a:rPr>
              <a:t>ApacheHbase</a:t>
            </a:r>
            <a:r>
              <a:rPr kumimoji="0" lang="en-US" altLang="en-US" sz="300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…. Dùng cho hệ thống ghi log lớn.</a:t>
            </a:r>
          </a:p>
        </p:txBody>
      </p:sp>
      <p:sp>
        <p:nvSpPr>
          <p:cNvPr id="41" name="Rectangle 4">
            <a:extLst>
              <a:ext uri="{FF2B5EF4-FFF2-40B4-BE49-F238E27FC236}">
                <a16:creationId xmlns:a16="http://schemas.microsoft.com/office/drawing/2014/main" id="{76A633B5-DD5E-E96E-96E9-8C7E2A6EC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7098" y="6134100"/>
            <a:ext cx="3842688" cy="3739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</a:rPr>
              <a:t>- Đặc điểm: Lưu trữ các Node và Relationship. Tối ưu cho truy vấn mối quan hệ.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00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</a:rPr>
              <a:t>- Đại diện: Neo4j, </a:t>
            </a:r>
            <a:r>
              <a:rPr lang="en-US" sz="3000">
                <a:solidFill>
                  <a:srgbClr val="3A4A21"/>
                </a:solidFill>
              </a:rPr>
              <a:t>InfiniteGraph..</a:t>
            </a:r>
            <a:r>
              <a:rPr kumimoji="0" lang="en-US" altLang="en-US" sz="300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</a:rPr>
              <a:t>. Dùng cho Mạng xã hội, gợi ý sản phẩm.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56052">
            <a:off x="13437142" y="6487311"/>
            <a:ext cx="5798378" cy="6902831"/>
          </a:xfrm>
          <a:custGeom>
            <a:avLst/>
            <a:gdLst/>
            <a:ahLst/>
            <a:cxnLst/>
            <a:rect l="l" t="t" r="r" b="b"/>
            <a:pathLst>
              <a:path w="5798378" h="6902831">
                <a:moveTo>
                  <a:pt x="0" y="0"/>
                </a:moveTo>
                <a:lnTo>
                  <a:pt x="5798378" y="0"/>
                </a:lnTo>
                <a:lnTo>
                  <a:pt x="5798378" y="6902831"/>
                </a:lnTo>
                <a:lnTo>
                  <a:pt x="0" y="69028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E6E11641-6BA7-4D93-DD3C-5FA2379D3549}"/>
              </a:ext>
            </a:extLst>
          </p:cNvPr>
          <p:cNvSpPr txBox="1"/>
          <p:nvPr/>
        </p:nvSpPr>
        <p:spPr>
          <a:xfrm>
            <a:off x="0" y="229671"/>
            <a:ext cx="165354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2"/>
            <a:r>
              <a:rPr lang="en-US" sz="6000" b="1">
                <a:solidFill>
                  <a:srgbClr val="3A4A21"/>
                </a:solidFill>
              </a:rPr>
              <a:t>CÁC KHÁI NIỆM TRONG CƠ SỞ DỮ LIỆU NOSQL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7B1E6ED8-D736-3D6B-64C0-82BEA2F22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1104900"/>
            <a:ext cx="17106900" cy="8833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1. </a:t>
            </a:r>
            <a:r>
              <a:rPr lang="en-US" altLang="en-US" sz="3200" b="1">
                <a:solidFill>
                  <a:srgbClr val="3A4A21"/>
                </a:solidFill>
              </a:rPr>
              <a:t>Schema-less: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Không ràng buộc cấu trúc khi ghi. Một Collection có thể chứa các Document khác nhau về số lượng trường</a:t>
            </a:r>
            <a:r>
              <a:rPr lang="en-US" altLang="en-US" sz="3200">
                <a:solidFill>
                  <a:srgbClr val="3A4A21"/>
                </a:solidFill>
                <a:latin typeface="+mj-lt"/>
              </a:rPr>
              <a:t>.</a:t>
            </a: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Giúp phát triển phần mềm linh hoạt (Agility).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2. </a:t>
            </a:r>
            <a:r>
              <a:rPr lang="en-US" altLang="en-US" sz="3200" b="1">
                <a:solidFill>
                  <a:srgbClr val="3A4A21"/>
                </a:solidFill>
                <a:latin typeface="+mj-lt"/>
              </a:rPr>
              <a:t>Scaling: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Horizontal Scaling (Sharding): Thêm nhiều máy chủ để san sẻ tải (đặc trưng NoSQL) thay vì nâng cấp phần cứng một máy chủ (Vertical Scaling của SQL).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3. Định lý CAP &amp; Mô hình BASE: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Định lý CAP: Chỉ đảm bảo tối đa 2/3 yếu tố: C (Nhất quán) - A (Sẵn sàng) - P (Chịu lỗi phân vùng).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>
                <a:solidFill>
                  <a:srgbClr val="3A4A21"/>
                </a:solidFill>
                <a:latin typeface="+mj-lt"/>
              </a:rPr>
              <a:t>- </a:t>
            </a: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Mô hình BASE: Triết lý "lạc quan" thay thế cho ACID "bi quan":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+ Basically Available (Luôn sẵn sàng).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+ Soft state (Trạng thái mềm - có thể thay đổi).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+ Eventually consistent (Tính nhất quán cuối cùng).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3D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4AEEDC-E572-240F-FCCB-359922BB9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1E66B4A-79C2-71EE-FE46-A27B162D413E}"/>
              </a:ext>
            </a:extLst>
          </p:cNvPr>
          <p:cNvSpPr/>
          <p:nvPr/>
        </p:nvSpPr>
        <p:spPr>
          <a:xfrm rot="-2156052">
            <a:off x="-2399610" y="6473285"/>
            <a:ext cx="6407041" cy="7627430"/>
          </a:xfrm>
          <a:custGeom>
            <a:avLst/>
            <a:gdLst/>
            <a:ahLst/>
            <a:cxnLst/>
            <a:rect l="l" t="t" r="r" b="b"/>
            <a:pathLst>
              <a:path w="6407041" h="7627430">
                <a:moveTo>
                  <a:pt x="0" y="0"/>
                </a:moveTo>
                <a:lnTo>
                  <a:pt x="6407041" y="0"/>
                </a:lnTo>
                <a:lnTo>
                  <a:pt x="6407041" y="7627430"/>
                </a:lnTo>
                <a:lnTo>
                  <a:pt x="0" y="7627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E09E1D2-AF6E-EBA2-E67A-E6AE11919AEB}"/>
              </a:ext>
            </a:extLst>
          </p:cNvPr>
          <p:cNvSpPr txBox="1"/>
          <p:nvPr/>
        </p:nvSpPr>
        <p:spPr>
          <a:xfrm>
            <a:off x="803910" y="495300"/>
            <a:ext cx="10458450" cy="1049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8799"/>
              </a:lnSpc>
            </a:pPr>
            <a:r>
              <a:rPr lang="vi-VN" sz="6000" b="1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ƯU - NHƯỢC ĐIỂM CỦA NOSQL</a:t>
            </a:r>
            <a:endParaRPr lang="en-US" sz="6000" b="1">
              <a:solidFill>
                <a:srgbClr val="3A4A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ilda Display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41A402E-52A8-A61A-3527-5AB8A592B96E}"/>
              </a:ext>
            </a:extLst>
          </p:cNvPr>
          <p:cNvSpPr txBox="1"/>
          <p:nvPr/>
        </p:nvSpPr>
        <p:spPr>
          <a:xfrm>
            <a:off x="1228725" y="2174081"/>
            <a:ext cx="113347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999" b="1" u="none">
                <a:solidFill>
                  <a:srgbClr val="3A4A21"/>
                </a:solidFill>
                <a:latin typeface="+mj-lt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65E503A-8C78-1C37-4E5F-320A8F2B39D8}"/>
              </a:ext>
            </a:extLst>
          </p:cNvPr>
          <p:cNvSpPr txBox="1"/>
          <p:nvPr/>
        </p:nvSpPr>
        <p:spPr>
          <a:xfrm>
            <a:off x="2257425" y="2176555"/>
            <a:ext cx="6886575" cy="464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3A4A21"/>
                </a:solidFill>
                <a:latin typeface="+mj-lt"/>
                <a:ea typeface="HK Grotesk Bold"/>
                <a:cs typeface="HK Grotesk Bold"/>
                <a:sym typeface="HK Grotesk Bold"/>
              </a:rPr>
              <a:t>Ưu điểm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02101C2-054D-E9CD-3DEF-2AF7C2BF78BE}"/>
              </a:ext>
            </a:extLst>
          </p:cNvPr>
          <p:cNvSpPr txBox="1"/>
          <p:nvPr/>
        </p:nvSpPr>
        <p:spPr>
          <a:xfrm>
            <a:off x="8534400" y="2171700"/>
            <a:ext cx="113347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999" b="1" u="none">
                <a:solidFill>
                  <a:srgbClr val="3A4A21"/>
                </a:solidFill>
                <a:latin typeface="+mj-lt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3F4C165-0894-F7A3-592A-8DA7C2353C74}"/>
              </a:ext>
            </a:extLst>
          </p:cNvPr>
          <p:cNvSpPr txBox="1"/>
          <p:nvPr/>
        </p:nvSpPr>
        <p:spPr>
          <a:xfrm>
            <a:off x="9479280" y="2174081"/>
            <a:ext cx="6886575" cy="464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3A4A21"/>
                </a:solidFill>
                <a:latin typeface="+mj-lt"/>
                <a:ea typeface="HK Grotesk Bold"/>
                <a:cs typeface="HK Grotesk Bold"/>
                <a:sym typeface="HK Grotesk Bold"/>
              </a:rPr>
              <a:t>Nhược điểm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9A4837E0-9EEB-68E8-32E5-8231AE654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859347"/>
            <a:ext cx="6124575" cy="5560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Xử lý Big Data: Giải quyết tốt các bài toán dữ liệu lớn và phân tán.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Mở rộng linh hoạt: Dễ dàng thêm máy chủ (Scaling out) không phụ thuộc vào một máy chủ vật lý.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An toàn dữ liệu: Cơ chế tự động sao chép (Replication) giúp phục hồi dữ liệu khi gặp lỗi.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6C9A819-D4D8-3EEC-A9E9-24953678E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8800" y="2838332"/>
            <a:ext cx="7611562" cy="6945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Quản lý phức tạp: Khó cài đặt và vận hành hơn so với SQL.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Tính nhất quán yếu: Đánh đổi sự nhất quán (Consistency) để lấy tốc độ và hiệu suất (theo CAP/BASE).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Thiếu chuẩn hóa: Chưa có ngôn ngữ truy vấn thống nhất (như SQL) và quy chuẩn chung cho các hệ quản trị.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Yêu cầu kỹ năng: Đòi hỏi lập trình viên phải có tư duy mới về quản lý dữ liệu phi quan hệ.</a:t>
            </a:r>
          </a:p>
        </p:txBody>
      </p:sp>
    </p:spTree>
    <p:extLst>
      <p:ext uri="{BB962C8B-B14F-4D97-AF65-F5344CB8AC3E}">
        <p14:creationId xmlns:p14="http://schemas.microsoft.com/office/powerpoint/2010/main" val="2796819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3D2675-4667-6ACD-06C9-5205999F3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6">
            <a:extLst>
              <a:ext uri="{FF2B5EF4-FFF2-40B4-BE49-F238E27FC236}">
                <a16:creationId xmlns:a16="http://schemas.microsoft.com/office/drawing/2014/main" id="{D80010CE-BDB5-44C3-908A-9EC0B1F9F9A6}"/>
              </a:ext>
            </a:extLst>
          </p:cNvPr>
          <p:cNvSpPr txBox="1"/>
          <p:nvPr/>
        </p:nvSpPr>
        <p:spPr>
          <a:xfrm>
            <a:off x="533400" y="419100"/>
            <a:ext cx="9276762" cy="9834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>
                <a:solidFill>
                  <a:srgbClr val="3A4A21"/>
                </a:solidFill>
                <a:latin typeface="+mj-lt"/>
                <a:ea typeface="+mj-ea"/>
                <a:cs typeface="+mj-cs"/>
              </a:rPr>
              <a:t>TỔNG QUAN VỀ MONGODB </a:t>
            </a:r>
            <a:endParaRPr lang="en-US" sz="6000" b="1" kern="1200">
              <a:solidFill>
                <a:srgbClr val="3A4A21"/>
              </a:solidFill>
              <a:latin typeface="+mj-lt"/>
              <a:ea typeface="+mj-ea"/>
              <a:cs typeface="+mj-cs"/>
              <a:sym typeface="Gilda Display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03F6E08E-9304-E007-BD13-4ABBFE6EE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" y="1562100"/>
            <a:ext cx="7867355" cy="78912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</a:rPr>
              <a:t>1. Định nghĩa:</a:t>
            </a:r>
            <a:endParaRPr kumimoji="0" lang="en-US" altLang="en-US" sz="30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</a:endParaRP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</a:rPr>
              <a:t>- MongoDB là hệ quản trị cơ sở dữ liệu mã nguồn mở, đa nền tảng, hoạt động dựa trên mô hình Document (Tài liệu).</a:t>
            </a: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</a:rPr>
              <a:t>- Cung cấp hiệu suất cao, tính sẵn sàng cao (High Availability) và khả năng mở rộng dễ dàng.</a:t>
            </a: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</a:rPr>
              <a:t>2. Lợi thế vượt trội so với RDBMS:</a:t>
            </a:r>
            <a:endParaRPr kumimoji="0" lang="en-US" altLang="en-US" sz="30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</a:endParaRP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</a:rPr>
              <a:t>- Ít Schema (Schema-less): Không cần định nghĩa cấu trúc bảng trước. Các Document trong cùng Collection có thể khác nhau về số lượng trường.</a:t>
            </a: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</a:rPr>
              <a:t>- Cấu trúc rõ ràng: Đối tượng dữ liệu được lưu trữ tự nhiên, không cần ánh xạ (Mapping) phức tạp giữa lớp ứng dụng và CSDL.</a:t>
            </a:r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</a:rPr>
              <a:t>- Truy vấn mạnh mẽ: Hỗ trợ truy vấn sâu vào bên trong mảng và document nhúng mà không cần thực hiện phép nối (Join) phức tạp .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1DF271-4ECE-A78B-8819-6E0920858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600" y="1883665"/>
            <a:ext cx="8974419" cy="6519670"/>
          </a:xfrm>
          <a:prstGeom prst="rect">
            <a:avLst/>
          </a:prstGeom>
        </p:spPr>
      </p:pic>
      <p:sp>
        <p:nvSpPr>
          <p:cNvPr id="19" name="Freeform 2">
            <a:extLst>
              <a:ext uri="{FF2B5EF4-FFF2-40B4-BE49-F238E27FC236}">
                <a16:creationId xmlns:a16="http://schemas.microsoft.com/office/drawing/2014/main" id="{2F95FA41-96E4-3A72-DF52-E6FFCAF57324}"/>
              </a:ext>
            </a:extLst>
          </p:cNvPr>
          <p:cNvSpPr/>
          <p:nvPr/>
        </p:nvSpPr>
        <p:spPr>
          <a:xfrm rot="12345485">
            <a:off x="14801074" y="-6326961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368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3D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EC517D-98DF-9C61-D249-D47F4ABA1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0A288DA-0378-9674-5214-A327701019A7}"/>
              </a:ext>
            </a:extLst>
          </p:cNvPr>
          <p:cNvSpPr/>
          <p:nvPr/>
        </p:nvSpPr>
        <p:spPr>
          <a:xfrm rot="-4945975">
            <a:off x="15101778" y="-5016438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7572B2D-7D54-F0D8-0F60-201BD02D0036}"/>
              </a:ext>
            </a:extLst>
          </p:cNvPr>
          <p:cNvSpPr txBox="1"/>
          <p:nvPr/>
        </p:nvSpPr>
        <p:spPr>
          <a:xfrm>
            <a:off x="609600" y="569342"/>
            <a:ext cx="13125450" cy="1043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8799"/>
              </a:lnSpc>
            </a:pPr>
            <a:r>
              <a:rPr lang="vi-VN" sz="6000" b="1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 KHÁI NIỆM CƠ BẢN</a:t>
            </a:r>
            <a:r>
              <a:rPr lang="en-US" sz="6000" b="1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MONGODB</a:t>
            </a:r>
            <a:r>
              <a:rPr lang="vi-VN" sz="6000" b="1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6000" b="1">
              <a:solidFill>
                <a:srgbClr val="3A4A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ilda Display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A67AF5-18E7-99DA-3F4A-881789FA1B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2386971"/>
            <a:ext cx="9032088" cy="5513056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9DE68B7E-061C-E39E-5303-2BEE617DD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019300"/>
            <a:ext cx="7467600" cy="7176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1. Database (Cơ sở dữ liệu):</a:t>
            </a:r>
            <a:endParaRPr kumimoji="0" lang="en-US" altLang="en-US" sz="30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Là nơi chứa vật lý của dữ liệu. Một MongoDB Server có thể chứa nhiều Database.</a:t>
            </a: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2. Collection (Bộ sưu tập):</a:t>
            </a:r>
            <a:endParaRPr kumimoji="0" lang="en-US" altLang="en-US" sz="30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Tương đương với </a:t>
            </a: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Table 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trong SQL.</a:t>
            </a: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Là nhóm các Document. Không ép buộc ràng buộc cấu trúc (Schema), cho phép lưu trữ đa dạng loại dữ liệu.</a:t>
            </a:r>
          </a:p>
          <a:p>
            <a:pPr lv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000" b="1">
                <a:solidFill>
                  <a:srgbClr val="3A4A21"/>
                </a:solidFill>
              </a:rPr>
              <a:t>3. Document (Tài liệu):</a:t>
            </a:r>
            <a:endParaRPr lang="en-US" altLang="en-US" sz="3000">
              <a:solidFill>
                <a:srgbClr val="3A4A21"/>
              </a:solidFill>
            </a:endParaRPr>
          </a:p>
          <a:p>
            <a:pPr lv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000">
                <a:solidFill>
                  <a:srgbClr val="3A4A21"/>
                </a:solidFill>
              </a:rPr>
              <a:t>- Tương đương với Row (Hàng) trong SQL.</a:t>
            </a:r>
          </a:p>
          <a:p>
            <a:pPr lv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000">
                <a:solidFill>
                  <a:srgbClr val="3A4A21"/>
                </a:solidFill>
              </a:rPr>
              <a:t>- Cấu trúc dạng JSON/BSON (Key-Value).</a:t>
            </a:r>
          </a:p>
          <a:p>
            <a:pPr lv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000">
                <a:solidFill>
                  <a:srgbClr val="3A4A21"/>
                </a:solidFill>
              </a:rPr>
              <a:t>- Có tính động (Dynamic Schema): Các Document không nhất thiết phải giống hệt nhau về các trường .</a:t>
            </a:r>
          </a:p>
        </p:txBody>
      </p:sp>
    </p:spTree>
    <p:extLst>
      <p:ext uri="{BB962C8B-B14F-4D97-AF65-F5344CB8AC3E}">
        <p14:creationId xmlns:p14="http://schemas.microsoft.com/office/powerpoint/2010/main" val="2163636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A79AE-88C1-1A43-9537-8DF390352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573BE90-1E70-89A1-C365-FA657E82E0C3}"/>
              </a:ext>
            </a:extLst>
          </p:cNvPr>
          <p:cNvSpPr txBox="1"/>
          <p:nvPr/>
        </p:nvSpPr>
        <p:spPr>
          <a:xfrm>
            <a:off x="533400" y="876300"/>
            <a:ext cx="12639675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6000" b="1">
                <a:solidFill>
                  <a:srgbClr val="3A4A21"/>
                </a:solidFill>
              </a:rPr>
              <a:t>CÁC KIỂU DỮ LIỆU TRONG MONGODB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2C4ED3A-FD26-8C7B-C9A7-0801F345D2A6}"/>
              </a:ext>
            </a:extLst>
          </p:cNvPr>
          <p:cNvSpPr/>
          <p:nvPr/>
        </p:nvSpPr>
        <p:spPr>
          <a:xfrm rot="-1268288">
            <a:off x="14795639" y="5873497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A346BD-9624-20BF-7C66-8CB157B3C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019300"/>
            <a:ext cx="16459200" cy="6945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1. Các kiểu cơ bản:</a:t>
            </a:r>
            <a:endParaRPr kumimoji="0" lang="en-US" altLang="en-US" sz="30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String: Chuỗi ký tự (UTF-8).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Integer / Double: Số nguyên và số thực.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Boolean: Giá trị đúng/sai (True/False).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Date: Lưu trữ ngày giờ (định dạng UNIX time).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2. Các kiểu đặc biệt (Quan trọng cho đồ án):</a:t>
            </a:r>
            <a:endParaRPr kumimoji="0" lang="en-US" altLang="en-US" sz="30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ObjectId: Khóa chính tự động sinh ra, đảm bảo tính duy nhất cho mỗi Document.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Array: Lưu trữ mảng giá trị hoặc danh sách (Ví dụ: Danh sách môn học).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000">
                <a:solidFill>
                  <a:srgbClr val="3A4A21"/>
                </a:solidFill>
                <a:latin typeface="+mj-lt"/>
              </a:rPr>
              <a:t>- </a:t>
            </a: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Object (Embedded Document): Kiểu dữ liệu nhúng, cho phép lưu một document con bên trong document cha (Ví dụ: Nhúng thong_tin_lop vào trong sinh_vien).</a:t>
            </a:r>
          </a:p>
        </p:txBody>
      </p:sp>
    </p:spTree>
    <p:extLst>
      <p:ext uri="{BB962C8B-B14F-4D97-AF65-F5344CB8AC3E}">
        <p14:creationId xmlns:p14="http://schemas.microsoft.com/office/powerpoint/2010/main" val="3676540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3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945975">
            <a:off x="15101778" y="-5016438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66800" y="571500"/>
            <a:ext cx="10229850" cy="1065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8799"/>
              </a:lnSpc>
            </a:pPr>
            <a:r>
              <a:rPr lang="en-US" sz="6000" b="1">
                <a:solidFill>
                  <a:srgbClr val="3A4A21"/>
                </a:solidFill>
              </a:rPr>
              <a:t>CÁC THAO TÁC DỮ LIỆU (CRUD)</a:t>
            </a:r>
            <a:endParaRPr lang="en-US" sz="6000" b="1">
              <a:solidFill>
                <a:srgbClr val="3A4A21"/>
              </a:solidFill>
              <a:latin typeface="Gilda Display"/>
              <a:ea typeface="Gilda Display"/>
              <a:cs typeface="Gilda Display"/>
              <a:sym typeface="Gilda Display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04A18A0-EC28-BBC7-CD27-FE1C6870F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019300"/>
            <a:ext cx="10668000" cy="714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1. Quản lý Database &amp; Collection: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Tạo/Chuyển DB: use &lt;tên_db&gt;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Tạo Collection: db.createCollection("ten_coll")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Xóa: db.dropDatabase() hoặc db.collection.drop()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2. Thao tác dữ liệu (CRUD):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Create (Thêm): db.collection.insert({ ... })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Read (Đọc): db.collection.find() hoặc findOne()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>
                <a:solidFill>
                  <a:srgbClr val="3A4A21"/>
                </a:solidFill>
                <a:latin typeface="+mj-lt"/>
              </a:rPr>
              <a:t>- </a:t>
            </a: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Update (Sửa): db.collection.update( điều_kiện, dữ_liệu_mới 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Delete (Xóa): db.collection.remove( điều_kiện 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3. Sao lưu &amp; Phục hồi: 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Backup: mongodump (Sao lưu toàn bộ hoặc từng phần).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Restore: mongorestore (Phục hồi dữ liệu từ file dump).</a:t>
            </a:r>
          </a:p>
        </p:txBody>
      </p:sp>
      <p:pic>
        <p:nvPicPr>
          <p:cNvPr id="8" name="Picture 7" descr="A diagram of a software update&#10;&#10;AI-generated content may be incorrect.">
            <a:extLst>
              <a:ext uri="{FF2B5EF4-FFF2-40B4-BE49-F238E27FC236}">
                <a16:creationId xmlns:a16="http://schemas.microsoft.com/office/drawing/2014/main" id="{E8AD0C75-0D5C-B0B2-D8BA-BF8B55FD61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1779" y="1790700"/>
            <a:ext cx="6705600" cy="41791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685800" y="720644"/>
            <a:ext cx="1266825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200"/>
              </a:lnSpc>
            </a:pPr>
            <a:r>
              <a:rPr lang="vi-VN" sz="6000" b="1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CÀI ĐẶT VÀ MÔI TRƯỜNG THỰC HIỆN</a:t>
            </a:r>
            <a:endParaRPr lang="en-US" sz="6000" b="1">
              <a:solidFill>
                <a:srgbClr val="3A4A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ilda Display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6207BAB-8D19-6EF4-F0FD-240D2F9A3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21" y="2353808"/>
            <a:ext cx="817757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Hạ tầng phần mềm:</a:t>
            </a:r>
            <a:endParaRPr kumimoji="0" lang="en-US" altLang="en-US" sz="30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Hệ điều hành: Windows 11 64-bit.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Hệ quản trị CSDL: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MongoDB Community Server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.</a:t>
            </a:r>
          </a:p>
        </p:txBody>
      </p:sp>
      <p:pic>
        <p:nvPicPr>
          <p:cNvPr id="9" name="Picture 8" descr="A computer screen shot of white text&#10;&#10;AI-generated content may be incorrect.">
            <a:extLst>
              <a:ext uri="{FF2B5EF4-FFF2-40B4-BE49-F238E27FC236}">
                <a16:creationId xmlns:a16="http://schemas.microsoft.com/office/drawing/2014/main" id="{5CECD4EE-A679-9DDB-685E-CD4886DD1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568" y="4327474"/>
            <a:ext cx="5105400" cy="3742962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96849C-A06F-6223-A01A-4F793579CF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07" r="25474" b="-1"/>
          <a:stretch>
            <a:fillRect/>
          </a:stretch>
        </p:blipFill>
        <p:spPr>
          <a:xfrm>
            <a:off x="8903219" y="1715794"/>
            <a:ext cx="7255746" cy="523124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1C643FF-FF40-1BF0-5657-F8F967703D16}"/>
              </a:ext>
            </a:extLst>
          </p:cNvPr>
          <p:cNvSpPr txBox="1"/>
          <p:nvPr/>
        </p:nvSpPr>
        <p:spPr>
          <a:xfrm>
            <a:off x="7192034" y="6979881"/>
            <a:ext cx="91440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Công cụ quản trị:</a:t>
            </a:r>
            <a:endParaRPr kumimoji="0" lang="en-US" altLang="en-US" sz="30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MongoDB Shell: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Dùng để khởi tạo Database, Collection và chạy các script nhập liệu.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000" b="1">
                <a:solidFill>
                  <a:srgbClr val="3A4A21"/>
                </a:solidFill>
                <a:latin typeface="+mj-lt"/>
              </a:rPr>
              <a:t>-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MongoDB Compass: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Giao diện đồ họa (GUI) để kiểm tra dữ liệu trực quan, thiết kế Schema và tối ưu truy vấn.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3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56052">
            <a:off x="-428957" y="6678722"/>
            <a:ext cx="6407041" cy="7627430"/>
          </a:xfrm>
          <a:custGeom>
            <a:avLst/>
            <a:gdLst/>
            <a:ahLst/>
            <a:cxnLst/>
            <a:rect l="l" t="t" r="r" b="b"/>
            <a:pathLst>
              <a:path w="6407041" h="7627430">
                <a:moveTo>
                  <a:pt x="0" y="0"/>
                </a:moveTo>
                <a:lnTo>
                  <a:pt x="6407041" y="0"/>
                </a:lnTo>
                <a:lnTo>
                  <a:pt x="6407041" y="7627430"/>
                </a:lnTo>
                <a:lnTo>
                  <a:pt x="0" y="7627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solidFill>
                <a:srgbClr val="3A4A21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66750" y="444602"/>
            <a:ext cx="12820650" cy="1049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8799"/>
              </a:lnSpc>
            </a:pPr>
            <a:r>
              <a:rPr lang="vi-VN" sz="6000" b="1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CHIẾN LƯỢC THIẾT KẾ CƠ SỞ DỮ LIỆU</a:t>
            </a:r>
            <a:endParaRPr lang="en-US" sz="6000" b="1">
              <a:solidFill>
                <a:srgbClr val="3A4A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ilda Display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D6EEED1B-AAC5-9589-BD6A-6076FA58E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63" y="1957030"/>
            <a:ext cx="8539977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Mục tiêu: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Tối ưu hóa tối đa hiệu suất cho thao tác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Đọc (Read-heavy)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Giải pháp kỹ thuật - Kỹ thuật Nhúng (Embedding):</a:t>
            </a:r>
            <a:endParaRPr kumimoji="0" lang="en-US" altLang="en-US" sz="30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Thay vì tách bảng và dùng khóa ngoại (Foreign Key) như 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Nhúng trực tiếp thông tin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Lớp, Khoa, Cố vấn học tập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vào trong Document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Sinh viên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Lợi ích:</a:t>
            </a:r>
            <a:endParaRPr kumimoji="0" lang="en-US" altLang="en-US" sz="30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Loại bỏ hoàn toàn phép nối (JOIN) phức tạp.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Lấy toàn bộ hồ sơ sinh viên chỉ bằng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một truy vấn duy nhất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0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3AF859-338D-B8DC-AB75-E6F7748EA395}"/>
              </a:ext>
            </a:extLst>
          </p:cNvPr>
          <p:cNvSpPr txBox="1"/>
          <p:nvPr/>
        </p:nvSpPr>
        <p:spPr>
          <a:xfrm>
            <a:off x="9412605" y="1884700"/>
            <a:ext cx="7960995" cy="7478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Ví dụ: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{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"ma_sinh_vien": 110123042,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"ten_sinh_vien": "Trần Kim Tài",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// Dữ liệu được nhúng trực tiếp, không cần JOIN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"thong_tin_lop": {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   "ma_lop": "DA23TTA",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   "co_van_hoc_tap": 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		{ "ten_gv": "Phan Thị 				Phương Nam" }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},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"thong_tin_khoa": {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   "ma_khoa": "CNTT", 			 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   "ten_khoa": "Công nghệ thông tin"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}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8625D3-3059-C05F-78CD-E785D719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D905825-8EBD-E560-B947-A8488754B787}"/>
              </a:ext>
            </a:extLst>
          </p:cNvPr>
          <p:cNvSpPr/>
          <p:nvPr/>
        </p:nvSpPr>
        <p:spPr>
          <a:xfrm rot="-2156052">
            <a:off x="16339169" y="8003391"/>
            <a:ext cx="5798378" cy="6902831"/>
          </a:xfrm>
          <a:custGeom>
            <a:avLst/>
            <a:gdLst/>
            <a:ahLst/>
            <a:cxnLst/>
            <a:rect l="l" t="t" r="r" b="b"/>
            <a:pathLst>
              <a:path w="5798378" h="6902831">
                <a:moveTo>
                  <a:pt x="0" y="0"/>
                </a:moveTo>
                <a:lnTo>
                  <a:pt x="5798378" y="0"/>
                </a:lnTo>
                <a:lnTo>
                  <a:pt x="5798378" y="6902831"/>
                </a:lnTo>
                <a:lnTo>
                  <a:pt x="0" y="69028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>
              <a:solidFill>
                <a:srgbClr val="3A4A21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F7AAAB5-BEED-DFB8-92B8-783AC37C5523}"/>
              </a:ext>
            </a:extLst>
          </p:cNvPr>
          <p:cNvSpPr txBox="1"/>
          <p:nvPr/>
        </p:nvSpPr>
        <p:spPr>
          <a:xfrm>
            <a:off x="1143000" y="1500884"/>
            <a:ext cx="6324600" cy="803296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marL="323850" lvl="1"/>
            <a:r>
              <a:rPr lang="vi-VN" sz="29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K Grotesk"/>
              </a:rPr>
              <a:t>{</a:t>
            </a:r>
            <a:r>
              <a:rPr lang="en-US" sz="29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 Collection: sinh_vien (Trung tâm)</a:t>
            </a:r>
            <a:endParaRPr lang="vi-VN" sz="2900">
              <a:solidFill>
                <a:srgbClr val="3A4A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HK Grotesk"/>
            </a:endParaRPr>
          </a:p>
          <a:p>
            <a:pPr marL="323850" lvl="1"/>
            <a:r>
              <a:rPr lang="vi-VN" sz="29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K Grotesk"/>
              </a:rPr>
              <a:t>  "ma_sinh_vien": 110123042,</a:t>
            </a:r>
          </a:p>
          <a:p>
            <a:pPr marL="323850" lvl="1"/>
            <a:r>
              <a:rPr lang="vi-VN" sz="29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K Grotesk"/>
              </a:rPr>
              <a:t>  "ten_sinh_vien": "Trần Kim Tài",</a:t>
            </a:r>
          </a:p>
          <a:p>
            <a:pPr marL="323850" lvl="1"/>
            <a:r>
              <a:rPr lang="vi-VN" sz="29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K Grotesk"/>
              </a:rPr>
              <a:t>  // ... (Các thông tin cá nhân khác)</a:t>
            </a:r>
          </a:p>
          <a:p>
            <a:pPr marL="323850" lvl="1"/>
            <a:r>
              <a:rPr lang="vi-VN" sz="29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K Grotesk"/>
              </a:rPr>
              <a:t>  </a:t>
            </a:r>
            <a:r>
              <a:rPr lang="en-US" sz="29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 Cấp 2: Dữ liệu Nhúng (Embedded)</a:t>
            </a:r>
            <a:endParaRPr lang="vi-VN" sz="2900">
              <a:solidFill>
                <a:srgbClr val="3A4A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HK Grotesk"/>
            </a:endParaRPr>
          </a:p>
          <a:p>
            <a:pPr marL="323850" lvl="1"/>
            <a:r>
              <a:rPr lang="vi-VN" sz="29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K Grotesk"/>
              </a:rPr>
              <a:t>  "thong_tin_lop": {</a:t>
            </a:r>
          </a:p>
          <a:p>
            <a:pPr marL="323850" lvl="1"/>
            <a:r>
              <a:rPr lang="vi-VN" sz="29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K Grotesk"/>
              </a:rPr>
              <a:t>     "ma_lop": "DA23TTA",</a:t>
            </a:r>
          </a:p>
          <a:p>
            <a:pPr marL="323850" lvl="1"/>
            <a:r>
              <a:rPr lang="vi-VN" sz="29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K Grotesk"/>
              </a:rPr>
              <a:t>     "so_luong_sv": 43,</a:t>
            </a:r>
          </a:p>
          <a:p>
            <a:pPr marL="323850" lvl="1"/>
            <a:r>
              <a:rPr lang="vi-VN" sz="29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K Grotesk"/>
              </a:rPr>
              <a:t>      </a:t>
            </a:r>
            <a:r>
              <a:rPr lang="en-US" sz="29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 Cấp 3: Lồng nhau (nested)</a:t>
            </a:r>
            <a:r>
              <a:rPr lang="vi-VN" sz="29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K Grotesk"/>
              </a:rPr>
              <a:t>     </a:t>
            </a:r>
            <a:endParaRPr lang="en-US" sz="2900">
              <a:solidFill>
                <a:srgbClr val="3A4A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HK Grotesk"/>
            </a:endParaRPr>
          </a:p>
          <a:p>
            <a:pPr marL="323850" lvl="1"/>
            <a:r>
              <a:rPr lang="en-US" sz="29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K Grotesk"/>
              </a:rPr>
              <a:t>	  </a:t>
            </a:r>
            <a:r>
              <a:rPr lang="vi-VN" sz="29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K Grotesk"/>
              </a:rPr>
              <a:t>"co_van_hoc_tap": {</a:t>
            </a:r>
          </a:p>
          <a:p>
            <a:pPr marL="323850" lvl="1"/>
            <a:r>
              <a:rPr lang="vi-VN" sz="29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K Grotesk"/>
              </a:rPr>
              <a:t>        "ten_gv": "Phan Thị Phương Nam"</a:t>
            </a:r>
          </a:p>
          <a:p>
            <a:pPr marL="323850" lvl="1"/>
            <a:r>
              <a:rPr lang="vi-VN" sz="29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K Grotesk"/>
              </a:rPr>
              <a:t>     }</a:t>
            </a:r>
          </a:p>
          <a:p>
            <a:pPr marL="323850" lvl="1"/>
            <a:r>
              <a:rPr lang="vi-VN" sz="29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K Grotesk"/>
              </a:rPr>
              <a:t>  },</a:t>
            </a:r>
          </a:p>
          <a:p>
            <a:pPr marL="323850" lvl="1"/>
            <a:r>
              <a:rPr lang="vi-VN" sz="29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K Grotesk"/>
              </a:rPr>
              <a:t>"thong_tin_khoa": {</a:t>
            </a:r>
          </a:p>
          <a:p>
            <a:pPr marL="323850" lvl="1"/>
            <a:r>
              <a:rPr lang="vi-VN" sz="29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K Grotesk"/>
              </a:rPr>
              <a:t>     "ma_khoa": "CNTT",</a:t>
            </a:r>
          </a:p>
          <a:p>
            <a:pPr marL="323850" lvl="1"/>
            <a:r>
              <a:rPr lang="vi-VN" sz="29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K Grotesk"/>
              </a:rPr>
              <a:t>     "ten_khoa": "Công nghệ thông tin"</a:t>
            </a:r>
          </a:p>
          <a:p>
            <a:pPr marL="323850" lvl="1"/>
            <a:r>
              <a:rPr lang="vi-VN" sz="29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K Grotesk"/>
              </a:rPr>
              <a:t>  }</a:t>
            </a:r>
          </a:p>
          <a:p>
            <a:pPr marL="323850" lvl="1"/>
            <a:r>
              <a:rPr lang="vi-VN" sz="2900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K Grotesk"/>
              </a:rPr>
              <a:t>}</a:t>
            </a:r>
            <a:endParaRPr lang="en-US" sz="2900">
              <a:solidFill>
                <a:srgbClr val="3A4A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HK Grotesk"/>
            </a:endParaRP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2FEE81A7-E631-1375-BB40-16213E533CF9}"/>
              </a:ext>
            </a:extLst>
          </p:cNvPr>
          <p:cNvSpPr txBox="1"/>
          <p:nvPr/>
        </p:nvSpPr>
        <p:spPr>
          <a:xfrm>
            <a:off x="1371600" y="266700"/>
            <a:ext cx="6477000" cy="1049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8799"/>
              </a:lnSpc>
            </a:pPr>
            <a:r>
              <a:rPr lang="en-US" sz="6000" b="1">
                <a:solidFill>
                  <a:srgbClr val="3A4A21"/>
                </a:solidFill>
              </a:rPr>
              <a:t>MÔ HÌNH DỮ LIỆU</a:t>
            </a:r>
            <a:endParaRPr lang="en-US" sz="6000" b="1">
              <a:solidFill>
                <a:srgbClr val="3A4A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ilda Display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DD9628E8-371A-04FE-1023-71F5FDB95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2600" y="1316218"/>
            <a:ext cx="7543800" cy="840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1. Collection Trung tâm (sinh_vien):</a:t>
            </a:r>
            <a:endParaRPr kumimoji="0" lang="en-US" altLang="en-US" sz="30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Là nơi lưu trữ dữ liệu chính phục vụ truy vấn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Áp dụng mô hình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Document-Oriented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(Hướng tài liệu).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2. Cấu trúc Phân cấp (Hierarchy):</a:t>
            </a:r>
            <a:endParaRPr kumimoji="0" lang="en-US" altLang="en-US" sz="30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Cấp 1 (Root):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Thông tin cá nhân (Mã, Tên, SĐT...).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Cấp 2 (Embedded Fields):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Nhúng toàn bộ thông tin Lớp, Khoa, Địa chỉ để loại bỏ phép nối bảng (JOIN).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Cấp 3 (Nested):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Chi tiết sâu như thông tin Cố vấn học tập nằm trong Lớp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3. Collection Danh mục (lop, khoa, giang_vien):</a:t>
            </a:r>
            <a:endParaRPr kumimoji="0" lang="en-US" altLang="en-US" sz="30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Đóng vai trò quản lý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Dữ liệu gốc (Master Data)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Dùng để tham chiếu và đảm bảo tính nhất quán khi nhập liệu ban đầu .</a:t>
            </a:r>
          </a:p>
        </p:txBody>
      </p:sp>
    </p:spTree>
    <p:extLst>
      <p:ext uri="{BB962C8B-B14F-4D97-AF65-F5344CB8AC3E}">
        <p14:creationId xmlns:p14="http://schemas.microsoft.com/office/powerpoint/2010/main" val="2901002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3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2965925">
            <a:off x="10283737" y="-6335828"/>
            <a:ext cx="10936025" cy="11053962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6000">
              <a:solidFill>
                <a:srgbClr val="3A4A21"/>
              </a:solidFill>
              <a:latin typeface="+mj-l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419100"/>
            <a:ext cx="8934450" cy="2178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8799"/>
              </a:lnSpc>
            </a:pPr>
            <a:r>
              <a:rPr lang="en-US" sz="6000" b="1">
                <a:solidFill>
                  <a:srgbClr val="3A4A21"/>
                </a:solidFill>
              </a:rPr>
              <a:t>NGHIỆP VỤ CẬP NHẬT &amp; XÓA (UPDATE &amp; DELETE)</a:t>
            </a:r>
            <a:endParaRPr lang="en-US" sz="6000" b="1">
              <a:solidFill>
                <a:srgbClr val="3A4A21"/>
              </a:solidFill>
              <a:latin typeface="+mj-lt"/>
              <a:ea typeface="Gilda Display"/>
              <a:cs typeface="Gilda Display"/>
              <a:sym typeface="Gilda Display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6B1BC93-2DD7-343A-266B-9B2CE467B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019841"/>
            <a:ext cx="830981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1. Cập nhật (Update):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Kịch bản: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SV </a:t>
            </a:r>
            <a:r>
              <a:rPr kumimoji="0" lang="en-US" altLang="en-US" sz="300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Trần Kim Tài 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thay đổi số điện thoại mới.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Code:</a:t>
            </a:r>
            <a:endParaRPr kumimoji="0" lang="en-US" altLang="en-US" sz="30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  <a:cs typeface="Courier New" panose="02070309020205020404" pitchFamily="49" charset="0"/>
              </a:rPr>
              <a:t>db.sinhvien.updateOne({ "ma_sinh_vien": 110123042 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  <a:cs typeface="Courier New" panose="02070309020205020404" pitchFamily="49" charset="0"/>
              </a:rPr>
              <a:t>{$set: { "sdt": "0123456789"}})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Đặc điểm: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Sử dụng toán tử $set để chỉ sửa đúng trường cần thiết, giữ nguyên các trường khác.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0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DF62DA-FBFB-3272-2EBF-6B80D6A4D93C}"/>
              </a:ext>
            </a:extLst>
          </p:cNvPr>
          <p:cNvSpPr txBox="1"/>
          <p:nvPr/>
        </p:nvSpPr>
        <p:spPr>
          <a:xfrm>
            <a:off x="9296400" y="3009900"/>
            <a:ext cx="876299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2. Xóa (Delete):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Kịch bản: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Xóa hồ sơ nhập sai quá nhiều thông tin.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Code:</a:t>
            </a:r>
            <a:endParaRPr kumimoji="0" lang="en-US" altLang="en-US" sz="30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  <a:cs typeface="Courier New" panose="02070309020205020404" pitchFamily="49" charset="0"/>
              </a:rPr>
              <a:t>db.sinhvien.deleteOne({ "ma_sinh_vien": 118023099 })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Kết quả: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Hệ thống phản hồi deletedCount: 1 (Xóa thành công) .</a:t>
            </a:r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F0DB9F1C-7ADB-7EA5-1FEF-56391859E496}"/>
              </a:ext>
            </a:extLst>
          </p:cNvPr>
          <p:cNvSpPr/>
          <p:nvPr/>
        </p:nvSpPr>
        <p:spPr>
          <a:xfrm rot="12965925">
            <a:off x="9216935" y="5551371"/>
            <a:ext cx="10936025" cy="11053962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6000">
              <a:solidFill>
                <a:srgbClr val="3A4A2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3D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35B891-7E1B-1000-FE00-5ED76B080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5784CBF-6241-768E-B1B1-65AEB2FF9678}"/>
              </a:ext>
            </a:extLst>
          </p:cNvPr>
          <p:cNvSpPr/>
          <p:nvPr/>
        </p:nvSpPr>
        <p:spPr>
          <a:xfrm rot="-2156052">
            <a:off x="-3053910" y="7516388"/>
            <a:ext cx="6407041" cy="7627430"/>
          </a:xfrm>
          <a:custGeom>
            <a:avLst/>
            <a:gdLst/>
            <a:ahLst/>
            <a:cxnLst/>
            <a:rect l="l" t="t" r="r" b="b"/>
            <a:pathLst>
              <a:path w="6407041" h="7627430">
                <a:moveTo>
                  <a:pt x="0" y="0"/>
                </a:moveTo>
                <a:lnTo>
                  <a:pt x="6407041" y="0"/>
                </a:lnTo>
                <a:lnTo>
                  <a:pt x="6407041" y="7627430"/>
                </a:lnTo>
                <a:lnTo>
                  <a:pt x="0" y="7627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solidFill>
                <a:srgbClr val="3A4A21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B232D7E-F371-7207-6085-81E3AE0F4FFA}"/>
              </a:ext>
            </a:extLst>
          </p:cNvPr>
          <p:cNvSpPr txBox="1"/>
          <p:nvPr/>
        </p:nvSpPr>
        <p:spPr>
          <a:xfrm>
            <a:off x="666750" y="444602"/>
            <a:ext cx="6886575" cy="1049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8799"/>
              </a:lnSpc>
            </a:pPr>
            <a:r>
              <a:rPr lang="en-US" sz="6000" b="1">
                <a:solidFill>
                  <a:srgbClr val="3A4A21"/>
                </a:solidFill>
              </a:rPr>
              <a:t>TRA CỨU CHI TIẾT</a:t>
            </a:r>
            <a:endParaRPr lang="en-US" sz="6000" b="1">
              <a:solidFill>
                <a:srgbClr val="3A4A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ilda Display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EF11148B-E807-B88F-6B5E-EE8F87F11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" y="1790700"/>
            <a:ext cx="901065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// Tra cứu hồ sơ sinh viên theo Mã số db.sinhvien.findOne({ "ma_sinh_vien": 110123042 })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5DDCC3-46DD-FE33-C739-D6D91D5366FE}"/>
              </a:ext>
            </a:extLst>
          </p:cNvPr>
          <p:cNvSpPr txBox="1"/>
          <p:nvPr/>
        </p:nvSpPr>
        <p:spPr>
          <a:xfrm>
            <a:off x="666750" y="3233321"/>
            <a:ext cx="756475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Kết quả trả về: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Một Document JSON duy nhất chứa đầy đủ: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Thông tin cá nhân (Tên, SĐT, Email...);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Thông tin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Lớp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(Nhúng);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Thông tin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Khoa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(Nhúng);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Ưu điểm vượt trội:</a:t>
            </a:r>
            <a:endParaRPr lang="en-US" altLang="en-US" sz="3000">
              <a:solidFill>
                <a:srgbClr val="3A4A21"/>
              </a:solidFill>
              <a:latin typeface="+mj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Chỉ tốn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1 thao tác đọc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Không cần phép JOIN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(nối bảng) phức tạp như SQL, giúp tăng tốc độ hiển thị hồ sơ.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9CEA75-07AC-83F0-3D4B-1A5E32FDB25F}"/>
              </a:ext>
            </a:extLst>
          </p:cNvPr>
          <p:cNvSpPr txBox="1"/>
          <p:nvPr/>
        </p:nvSpPr>
        <p:spPr>
          <a:xfrm>
            <a:off x="9453565" y="896183"/>
            <a:ext cx="7705723" cy="8402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{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"ma_sinh_vien": 110123042,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"ten_sinh_vien": "Trần Kim Tài",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"sdt": "0123456789",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"email": "kimtaitran278@gmail.com",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// Kết quả nhúng (không cần Join):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"thong_tin_lop": {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   "ma_lop": "DA23TTA",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   "co_van_hoc_tap": {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      "ten_gv": "Phan Thị Phương Nam",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      "email": "ptpnam@tvu.edu.vn"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   }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},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"thong_tin_khoa": {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   "ma_khoa": "CNTT",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   "ten_khoa": "Công nghệ thông tin"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}, //…các trường khác…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37279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3353B9-D97A-F5DF-41BC-FAD27D895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A81A2334-91F4-F18E-FFF8-0101C16BEDC4}"/>
              </a:ext>
            </a:extLst>
          </p:cNvPr>
          <p:cNvSpPr txBox="1"/>
          <p:nvPr/>
        </p:nvSpPr>
        <p:spPr>
          <a:xfrm>
            <a:off x="666750" y="759619"/>
            <a:ext cx="8324850" cy="93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7200"/>
              </a:lnSpc>
            </a:pPr>
            <a:r>
              <a:rPr lang="en-US" sz="6000" b="1">
                <a:solidFill>
                  <a:srgbClr val="3A4A21"/>
                </a:solidFill>
              </a:rPr>
              <a:t>TRA CỨU NÂNG CAO</a:t>
            </a:r>
            <a:endParaRPr lang="en-US" sz="6000" b="1">
              <a:solidFill>
                <a:srgbClr val="3A4A21"/>
              </a:solidFill>
              <a:latin typeface="+mj-lt"/>
              <a:ea typeface="Gilda Display"/>
              <a:cs typeface="Gilda Display"/>
              <a:sym typeface="Gilda Display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625712-AE0C-11D3-9AAD-9762427B7936}"/>
              </a:ext>
            </a:extLst>
          </p:cNvPr>
          <p:cNvSpPr txBox="1"/>
          <p:nvPr/>
        </p:nvSpPr>
        <p:spPr>
          <a:xfrm>
            <a:off x="666750" y="2095500"/>
            <a:ext cx="7959090" cy="33239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// Tìm sinh viên có địa chỉ chứa từ khóa "Trà Vinh"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db.sinhvien.find({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 "dia_chi.dia_chi_thuong_tru": 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	{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       $regex: "Trà Vinh",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	}</a:t>
            </a:r>
          </a:p>
          <a:p>
            <a:r>
              <a:rPr lang="en-US" sz="3000">
                <a:solidFill>
                  <a:srgbClr val="3A4A21"/>
                </a:solidFill>
                <a:latin typeface="+mj-lt"/>
                <a:cs typeface="Courier New" panose="02070309020205020404" pitchFamily="49" charset="0"/>
              </a:rPr>
              <a:t>})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8A74286-04AB-EA8B-4BAC-0965AC98D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0650" y="2095500"/>
            <a:ext cx="861060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Vấn đề: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Tìm kiếm chính xác (Exact match) thường khó khăn do người dùng không nhớ chính xác hoặc lỗi nhập liệu.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Giải pháp: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Sử dụng biểu thức chính quy ($regex).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Ứng dụng: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Tìm kiếm tên sinh viên gần đúng, lọc sinh viên theo địa phương (Ví dụ: tìm tất cả người ở "Trà Vinh" hoặc "Vĩnh Long").</a:t>
            </a:r>
          </a:p>
        </p:txBody>
      </p:sp>
    </p:spTree>
    <p:extLst>
      <p:ext uri="{BB962C8B-B14F-4D97-AF65-F5344CB8AC3E}">
        <p14:creationId xmlns:p14="http://schemas.microsoft.com/office/powerpoint/2010/main" val="4200867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3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945975">
            <a:off x="15101778" y="-5016438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solidFill>
                <a:srgbClr val="3A4A21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57200" y="295597"/>
            <a:ext cx="8324850" cy="10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8799"/>
              </a:lnSpc>
            </a:pPr>
            <a:r>
              <a:rPr lang="en-US" sz="6000" b="1">
                <a:solidFill>
                  <a:srgbClr val="3A4A21"/>
                </a:solidFill>
              </a:rPr>
              <a:t>THỐNG KÊ THEO KHOA</a:t>
            </a:r>
            <a:endParaRPr lang="en-US" sz="6000" b="1">
              <a:solidFill>
                <a:srgbClr val="3A4A21"/>
              </a:solidFill>
              <a:latin typeface="Gilda Display"/>
              <a:ea typeface="Gilda Display"/>
              <a:cs typeface="Gilda Display"/>
              <a:sym typeface="Gilda Display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0F5C16-7ADB-D347-5C5A-0F8F7CFF4487}"/>
              </a:ext>
            </a:extLst>
          </p:cNvPr>
          <p:cNvSpPr txBox="1"/>
          <p:nvPr/>
        </p:nvSpPr>
        <p:spPr>
          <a:xfrm>
            <a:off x="285751" y="1522859"/>
            <a:ext cx="8324849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>
                <a:solidFill>
                  <a:srgbClr val="3A4A21"/>
                </a:solidFill>
              </a:rPr>
              <a:t>db.sinh_vien.aggregate([</a:t>
            </a:r>
          </a:p>
          <a:p>
            <a:r>
              <a:rPr lang="en-US" sz="3000">
                <a:solidFill>
                  <a:srgbClr val="3A4A21"/>
                </a:solidFill>
              </a:rPr>
              <a:t>  // 1. Gom nhóm theo Mã Khoa</a:t>
            </a:r>
          </a:p>
          <a:p>
            <a:r>
              <a:rPr lang="en-US" sz="3000">
                <a:solidFill>
                  <a:srgbClr val="3A4A21"/>
                </a:solidFill>
              </a:rPr>
              <a:t>  { $group: {</a:t>
            </a:r>
          </a:p>
          <a:p>
            <a:r>
              <a:rPr lang="en-US" sz="3000">
                <a:solidFill>
                  <a:srgbClr val="3A4A21"/>
                </a:solidFill>
              </a:rPr>
              <a:t>      _id: "$thong_tin_khoa.ma_khoa",</a:t>
            </a:r>
          </a:p>
          <a:p>
            <a:r>
              <a:rPr lang="en-US" sz="3000">
                <a:solidFill>
                  <a:srgbClr val="3A4A21"/>
                </a:solidFill>
              </a:rPr>
              <a:t>      // 2. Tính tổng có điều kiện (Nam/Nữ)</a:t>
            </a:r>
          </a:p>
          <a:p>
            <a:r>
              <a:rPr lang="en-US" sz="3000">
                <a:solidFill>
                  <a:srgbClr val="3A4A21"/>
                </a:solidFill>
              </a:rPr>
              <a:t>      tong_nam: { $sum: {</a:t>
            </a:r>
          </a:p>
          <a:p>
            <a:r>
              <a:rPr lang="en-US" sz="3000">
                <a:solidFill>
                  <a:srgbClr val="3A4A21"/>
                </a:solidFill>
              </a:rPr>
              <a:t>         $cond: [{ $eq: ["$gioi_tinh", "Nam"]}, 1, 0]</a:t>
            </a:r>
          </a:p>
          <a:p>
            <a:r>
              <a:rPr lang="en-US" sz="3000">
                <a:solidFill>
                  <a:srgbClr val="3A4A21"/>
                </a:solidFill>
              </a:rPr>
              <a:t>      }},</a:t>
            </a:r>
          </a:p>
          <a:p>
            <a:r>
              <a:rPr lang="en-US" sz="3000">
                <a:solidFill>
                  <a:srgbClr val="3A4A21"/>
                </a:solidFill>
              </a:rPr>
              <a:t>      tong_nu: { $sum: {</a:t>
            </a:r>
          </a:p>
          <a:p>
            <a:r>
              <a:rPr lang="en-US" sz="3000">
                <a:solidFill>
                  <a:srgbClr val="3A4A21"/>
                </a:solidFill>
              </a:rPr>
              <a:t>         $cond: [{ $eq: ["$gioi_tinh", "Nữ"]}, 1, 0]</a:t>
            </a:r>
          </a:p>
          <a:p>
            <a:r>
              <a:rPr lang="en-US" sz="3000">
                <a:solidFill>
                  <a:srgbClr val="3A4A21"/>
                </a:solidFill>
              </a:rPr>
              <a:t>      }},</a:t>
            </a:r>
          </a:p>
          <a:p>
            <a:r>
              <a:rPr lang="en-US" sz="3000">
                <a:solidFill>
                  <a:srgbClr val="3A4A21"/>
                </a:solidFill>
              </a:rPr>
              <a:t>      tong_cong: { $sum: 1 }</a:t>
            </a:r>
          </a:p>
          <a:p>
            <a:r>
              <a:rPr lang="en-US" sz="3000">
                <a:solidFill>
                  <a:srgbClr val="3A4A21"/>
                </a:solidFill>
              </a:rPr>
              <a:t>  }},</a:t>
            </a:r>
          </a:p>
          <a:p>
            <a:r>
              <a:rPr lang="en-US" sz="3000">
                <a:solidFill>
                  <a:srgbClr val="3A4A21"/>
                </a:solidFill>
              </a:rPr>
              <a:t>  // 3. Xuất kết quả ra Collection mới</a:t>
            </a:r>
          </a:p>
          <a:p>
            <a:r>
              <a:rPr lang="en-US" sz="3000">
                <a:solidFill>
                  <a:srgbClr val="3A4A21"/>
                </a:solidFill>
              </a:rPr>
              <a:t>  { $merge: { into: "thong_ke_khoa" } }</a:t>
            </a:r>
          </a:p>
          <a:p>
            <a:r>
              <a:rPr lang="en-US" sz="3000">
                <a:solidFill>
                  <a:srgbClr val="3A4A21"/>
                </a:solidFill>
              </a:rPr>
              <a:t>])</a:t>
            </a:r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39EE8300-8A55-F7AE-3BBA-4A45E68A6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133435"/>
            <a:ext cx="9448800" cy="582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750176CD-510B-4263-6B40-B0A49C44F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6232000"/>
            <a:ext cx="1082040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Công cụ: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Sử dụng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Aggregation Framework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(Mô hình đường ống)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Cơ chế hoạt động: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Dữ liệu đi qua các tầng xử lý (Stages):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$group: Gom nhóm các sinh viên cùng khoa.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$sum + $cond: Đếm số lượng sinh viên theo giới tính (thay thế cho COUNT IF trong Excel/SQL).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$merge: Tự động lưu kết quả vào collection báo cáo, giúp truy xuất nhanh sau này 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651510" y="419100"/>
            <a:ext cx="8324850" cy="10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8799"/>
              </a:lnSpc>
            </a:pPr>
            <a:r>
              <a:rPr lang="en-US" sz="6000" b="1">
                <a:solidFill>
                  <a:srgbClr val="3A4A21"/>
                </a:solidFill>
              </a:rPr>
              <a:t>THỐNG KÊ THEO LỚP</a:t>
            </a:r>
            <a:endParaRPr lang="en-US" sz="6000" b="1">
              <a:solidFill>
                <a:srgbClr val="3A4A21"/>
              </a:solidFill>
              <a:latin typeface="Gilda Display"/>
              <a:ea typeface="Gilda Display"/>
              <a:cs typeface="Gilda Display"/>
              <a:sym typeface="Gilda Display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C3FC84-0C08-27CD-9BB0-0EDC95BB46C1}"/>
              </a:ext>
            </a:extLst>
          </p:cNvPr>
          <p:cNvSpPr txBox="1"/>
          <p:nvPr/>
        </p:nvSpPr>
        <p:spPr>
          <a:xfrm>
            <a:off x="666750" y="1484200"/>
            <a:ext cx="11068050" cy="8330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>
                <a:solidFill>
                  <a:srgbClr val="3A4A21"/>
                </a:solidFill>
                <a:effectLst/>
                <a:latin typeface="+mj-lt"/>
                <a:ea typeface="Times New Roman" panose="02020603050405020304" pitchFamily="18" charset="0"/>
              </a:rPr>
              <a:t>db.sinhvien.aggregate([</a:t>
            </a:r>
          </a:p>
          <a:p>
            <a:pPr>
              <a:lnSpc>
                <a:spcPct val="150000"/>
              </a:lnSpc>
              <a:buNone/>
            </a:pPr>
            <a:r>
              <a:rPr lang="en-US" sz="3000">
                <a:solidFill>
                  <a:srgbClr val="3A4A21"/>
                </a:solidFill>
                <a:effectLst/>
                <a:latin typeface="+mj-lt"/>
                <a:ea typeface="Times New Roman" panose="02020603050405020304" pitchFamily="18" charset="0"/>
              </a:rPr>
              <a:t>  { $group: {</a:t>
            </a:r>
          </a:p>
          <a:p>
            <a:pPr>
              <a:lnSpc>
                <a:spcPct val="150000"/>
              </a:lnSpc>
              <a:buNone/>
            </a:pPr>
            <a:r>
              <a:rPr lang="en-US" sz="3000">
                <a:solidFill>
                  <a:srgbClr val="3A4A21"/>
                </a:solidFill>
                <a:effectLst/>
                <a:latin typeface="+mj-lt"/>
                <a:ea typeface="Times New Roman" panose="02020603050405020304" pitchFamily="18" charset="0"/>
              </a:rPr>
              <a:t>      _id: "$thong_tin_lop.ma_lop",</a:t>
            </a:r>
          </a:p>
          <a:p>
            <a:pPr>
              <a:lnSpc>
                <a:spcPct val="150000"/>
              </a:lnSpc>
              <a:buNone/>
            </a:pPr>
            <a:r>
              <a:rPr lang="en-US" sz="3000">
                <a:solidFill>
                  <a:srgbClr val="3A4A21"/>
                </a:solidFill>
                <a:effectLst/>
                <a:latin typeface="+mj-lt"/>
                <a:ea typeface="Times New Roman" panose="02020603050405020304" pitchFamily="18" charset="0"/>
              </a:rPr>
              <a:t>      tong_sv_nam: { $sum: </a:t>
            </a:r>
          </a:p>
          <a:p>
            <a:pPr>
              <a:lnSpc>
                <a:spcPct val="150000"/>
              </a:lnSpc>
              <a:buNone/>
            </a:pPr>
            <a:r>
              <a:rPr lang="en-US" sz="3000">
                <a:solidFill>
                  <a:srgbClr val="3A4A21"/>
                </a:solidFill>
                <a:latin typeface="+mj-lt"/>
                <a:ea typeface="Times New Roman" panose="02020603050405020304" pitchFamily="18" charset="0"/>
              </a:rPr>
              <a:t>	</a:t>
            </a:r>
            <a:r>
              <a:rPr lang="en-US" sz="3000">
                <a:solidFill>
                  <a:srgbClr val="3A4A21"/>
                </a:solidFill>
                <a:effectLst/>
                <a:latin typeface="+mj-lt"/>
                <a:ea typeface="Times New Roman" panose="02020603050405020304" pitchFamily="18" charset="0"/>
              </a:rPr>
              <a:t>{ $cond: [ { $eq: ["$gioi_tinh", "Nam"] }, 1, 0 ] } },</a:t>
            </a:r>
          </a:p>
          <a:p>
            <a:pPr>
              <a:lnSpc>
                <a:spcPct val="150000"/>
              </a:lnSpc>
              <a:buNone/>
            </a:pPr>
            <a:r>
              <a:rPr lang="en-US" sz="3000">
                <a:solidFill>
                  <a:srgbClr val="3A4A21"/>
                </a:solidFill>
                <a:effectLst/>
                <a:latin typeface="+mj-lt"/>
                <a:ea typeface="Times New Roman" panose="02020603050405020304" pitchFamily="18" charset="0"/>
              </a:rPr>
              <a:t>      tong_sv_nu: { $sum: </a:t>
            </a:r>
          </a:p>
          <a:p>
            <a:pPr>
              <a:lnSpc>
                <a:spcPct val="150000"/>
              </a:lnSpc>
              <a:buNone/>
            </a:pPr>
            <a:r>
              <a:rPr lang="en-US" sz="3000">
                <a:solidFill>
                  <a:srgbClr val="3A4A21"/>
                </a:solidFill>
                <a:latin typeface="+mj-lt"/>
                <a:ea typeface="Times New Roman" panose="02020603050405020304" pitchFamily="18" charset="0"/>
              </a:rPr>
              <a:t>	</a:t>
            </a:r>
            <a:r>
              <a:rPr lang="en-US" sz="3000">
                <a:solidFill>
                  <a:srgbClr val="3A4A21"/>
                </a:solidFill>
                <a:effectLst/>
                <a:latin typeface="+mj-lt"/>
                <a:ea typeface="Times New Roman" panose="02020603050405020304" pitchFamily="18" charset="0"/>
              </a:rPr>
              <a:t>{ $cond: [ { $eq: ["$gioi_tinh", "Nữ"] }, 1, 0 ] } },</a:t>
            </a:r>
          </a:p>
          <a:p>
            <a:pPr>
              <a:lnSpc>
                <a:spcPct val="150000"/>
              </a:lnSpc>
              <a:buNone/>
            </a:pPr>
            <a:r>
              <a:rPr lang="en-US" sz="3000">
                <a:solidFill>
                  <a:srgbClr val="3A4A21"/>
                </a:solidFill>
                <a:effectLst/>
                <a:latin typeface="+mj-lt"/>
                <a:ea typeface="Times New Roman" panose="02020603050405020304" pitchFamily="18" charset="0"/>
              </a:rPr>
              <a:t>      tong_si_so: { $sum: 1 }</a:t>
            </a:r>
          </a:p>
          <a:p>
            <a:pPr>
              <a:lnSpc>
                <a:spcPct val="150000"/>
              </a:lnSpc>
              <a:buNone/>
            </a:pPr>
            <a:r>
              <a:rPr lang="en-US" sz="3000">
                <a:solidFill>
                  <a:srgbClr val="3A4A21"/>
                </a:solidFill>
                <a:effectLst/>
                <a:latin typeface="+mj-lt"/>
                <a:ea typeface="Times New Roman" panose="02020603050405020304" pitchFamily="18" charset="0"/>
              </a:rPr>
              <a:t>  }},</a:t>
            </a:r>
          </a:p>
          <a:p>
            <a:pPr>
              <a:lnSpc>
                <a:spcPct val="150000"/>
              </a:lnSpc>
              <a:buNone/>
            </a:pPr>
            <a:r>
              <a:rPr lang="en-US" sz="3000">
                <a:solidFill>
                  <a:srgbClr val="3A4A21"/>
                </a:solidFill>
                <a:effectLst/>
                <a:latin typeface="+mj-lt"/>
                <a:ea typeface="Times New Roman" panose="02020603050405020304" pitchFamily="18" charset="0"/>
              </a:rPr>
              <a:t>  {$merge: { into: "thong_ke_lop", </a:t>
            </a:r>
          </a:p>
          <a:p>
            <a:pPr>
              <a:lnSpc>
                <a:spcPct val="150000"/>
              </a:lnSpc>
              <a:buNone/>
            </a:pPr>
            <a:r>
              <a:rPr lang="en-US" sz="3000">
                <a:solidFill>
                  <a:srgbClr val="3A4A21"/>
                </a:solidFill>
                <a:effectLst/>
                <a:latin typeface="+mj-lt"/>
                <a:ea typeface="Times New Roman" panose="02020603050405020304" pitchFamily="18" charset="0"/>
              </a:rPr>
              <a:t>on: "_id", whenMatched: "replace", </a:t>
            </a:r>
          </a:p>
          <a:p>
            <a:pPr>
              <a:lnSpc>
                <a:spcPct val="150000"/>
              </a:lnSpc>
              <a:buNone/>
            </a:pPr>
            <a:r>
              <a:rPr lang="en-US" sz="3000">
                <a:solidFill>
                  <a:srgbClr val="3A4A21"/>
                </a:solidFill>
                <a:effectLst/>
                <a:latin typeface="+mj-lt"/>
                <a:ea typeface="Times New Roman" panose="02020603050405020304" pitchFamily="18" charset="0"/>
              </a:rPr>
              <a:t>whenNotMatched: "insert" } }])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5183B12-B60A-1DD4-4A37-504D80EBE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3759" y="952500"/>
            <a:ext cx="8341302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E3771F36-E6A6-6E67-FF33-601E46D69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7078992"/>
            <a:ext cx="11296650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Kỹ thuật: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Group by trên trường lồng nhau (Nested Field) thong_tin_lop.ma_lop.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Mục tiêu: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Tạo báo cáo sĩ số chi tiết cho từng lớp hành chính.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000" b="1">
                <a:solidFill>
                  <a:srgbClr val="3A4A21"/>
                </a:solidFill>
                <a:latin typeface="+mj-lt"/>
              </a:rPr>
              <a:t>Kết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quả: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Hệ thống tự động tính toán tổng sinh viên và phân loại giới tính cho từng lớp (DA23TTA, DA23TTC...).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BEEB3-5854-3B2A-9369-7FA6691BC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864F3294-BD60-D123-F6C3-B25042CA3485}"/>
              </a:ext>
            </a:extLst>
          </p:cNvPr>
          <p:cNvSpPr txBox="1"/>
          <p:nvPr/>
        </p:nvSpPr>
        <p:spPr>
          <a:xfrm>
            <a:off x="651510" y="274801"/>
            <a:ext cx="9559290" cy="1065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8799"/>
              </a:lnSpc>
            </a:pPr>
            <a:r>
              <a:rPr lang="en-US" sz="6000" b="1">
                <a:solidFill>
                  <a:srgbClr val="3A4A21"/>
                </a:solidFill>
              </a:rPr>
              <a:t>THỐNG KÊ CỐ VẤN HỌC TẬP</a:t>
            </a:r>
            <a:endParaRPr lang="en-US" sz="6000" b="1">
              <a:solidFill>
                <a:srgbClr val="3A4A21"/>
              </a:solidFill>
              <a:latin typeface="Gilda Display"/>
              <a:ea typeface="Gilda Display"/>
              <a:cs typeface="Gilda Display"/>
              <a:sym typeface="Gilda Display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5FE633-2CC5-0774-898E-06CBE74948BB}"/>
              </a:ext>
            </a:extLst>
          </p:cNvPr>
          <p:cNvSpPr txBox="1"/>
          <p:nvPr/>
        </p:nvSpPr>
        <p:spPr>
          <a:xfrm>
            <a:off x="666750" y="1484200"/>
            <a:ext cx="9544050" cy="8402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>
                <a:solidFill>
                  <a:srgbClr val="3A4A21"/>
                </a:solidFill>
              </a:rPr>
              <a:t>db.sinh_vien.aggregate([</a:t>
            </a:r>
          </a:p>
          <a:p>
            <a:r>
              <a:rPr lang="en-US" sz="3000">
                <a:solidFill>
                  <a:srgbClr val="3A4A21"/>
                </a:solidFill>
              </a:rPr>
              <a:t>  { $group: {</a:t>
            </a:r>
          </a:p>
          <a:p>
            <a:r>
              <a:rPr lang="en-US" sz="3000">
                <a:solidFill>
                  <a:srgbClr val="3A4A21"/>
                </a:solidFill>
              </a:rPr>
              <a:t>     _id: "$thong_tin_lop.co_van_hoc_tap.ten_gv",</a:t>
            </a:r>
          </a:p>
          <a:p>
            <a:r>
              <a:rPr lang="en-US" sz="3000">
                <a:solidFill>
                  <a:srgbClr val="3A4A21"/>
                </a:solidFill>
              </a:rPr>
              <a:t>      tong_sv_nam: { $sum: { </a:t>
            </a:r>
          </a:p>
          <a:p>
            <a:r>
              <a:rPr lang="en-US" sz="3000">
                <a:solidFill>
                  <a:srgbClr val="3A4A21"/>
                </a:solidFill>
              </a:rPr>
              <a:t>	$cond: [ { $eq: ["$gioi_tinh", "Nam"] }, 1, 0 ] </a:t>
            </a:r>
          </a:p>
          <a:p>
            <a:r>
              <a:rPr lang="en-US" sz="3000">
                <a:solidFill>
                  <a:srgbClr val="3A4A21"/>
                </a:solidFill>
              </a:rPr>
              <a:t>          	} },</a:t>
            </a:r>
          </a:p>
          <a:p>
            <a:r>
              <a:rPr lang="en-US" sz="3000">
                <a:solidFill>
                  <a:srgbClr val="3A4A21"/>
                </a:solidFill>
              </a:rPr>
              <a:t>      tong_sv_nu: {$sum: { </a:t>
            </a:r>
          </a:p>
          <a:p>
            <a:r>
              <a:rPr lang="en-US" sz="3000">
                <a:solidFill>
                  <a:srgbClr val="3A4A21"/>
                </a:solidFill>
              </a:rPr>
              <a:t>              $cond: [ { $eq: ["$gioi_tinh", "Nữ"] }, 1, 0 ] </a:t>
            </a:r>
          </a:p>
          <a:p>
            <a:r>
              <a:rPr lang="en-US" sz="3000">
                <a:solidFill>
                  <a:srgbClr val="3A4A21"/>
                </a:solidFill>
              </a:rPr>
              <a:t>          	} },</a:t>
            </a:r>
          </a:p>
          <a:p>
            <a:r>
              <a:rPr lang="en-US" sz="3000">
                <a:solidFill>
                  <a:srgbClr val="3A4A21"/>
                </a:solidFill>
              </a:rPr>
              <a:t>      tong_sv_quan_ly: { $sum: 1 }, </a:t>
            </a:r>
          </a:p>
          <a:p>
            <a:r>
              <a:rPr lang="en-US" sz="3000">
                <a:solidFill>
                  <a:srgbClr val="3A4A21"/>
                </a:solidFill>
              </a:rPr>
              <a:t>      ds_lop_phu_trach: { $addToSet: </a:t>
            </a:r>
          </a:p>
          <a:p>
            <a:r>
              <a:rPr lang="en-US" sz="3000">
                <a:solidFill>
                  <a:srgbClr val="3A4A21"/>
                </a:solidFill>
              </a:rPr>
              <a:t>	"$thong_tin_lop.Mã lớp" }}},</a:t>
            </a:r>
          </a:p>
          <a:p>
            <a:r>
              <a:rPr lang="en-US" sz="3000">
                <a:solidFill>
                  <a:srgbClr val="3A4A21"/>
                </a:solidFill>
              </a:rPr>
              <a:t>  { $merge: {</a:t>
            </a:r>
          </a:p>
          <a:p>
            <a:r>
              <a:rPr lang="en-US" sz="3000">
                <a:solidFill>
                  <a:srgbClr val="3A4A21"/>
                </a:solidFill>
              </a:rPr>
              <a:t>      into: "thong_ke_giang_vien",</a:t>
            </a:r>
          </a:p>
          <a:p>
            <a:r>
              <a:rPr lang="en-US" sz="3000">
                <a:solidFill>
                  <a:srgbClr val="3A4A21"/>
                </a:solidFill>
              </a:rPr>
              <a:t>      on: "_id",</a:t>
            </a:r>
          </a:p>
          <a:p>
            <a:r>
              <a:rPr lang="en-US" sz="3000">
                <a:solidFill>
                  <a:srgbClr val="3A4A21"/>
                </a:solidFill>
              </a:rPr>
              <a:t>      whenMatched: "replace",</a:t>
            </a:r>
          </a:p>
          <a:p>
            <a:r>
              <a:rPr lang="en-US" sz="3000">
                <a:solidFill>
                  <a:srgbClr val="3A4A21"/>
                </a:solidFill>
              </a:rPr>
              <a:t>      whenNotMatched: "insert"</a:t>
            </a:r>
          </a:p>
          <a:p>
            <a:r>
              <a:rPr lang="en-US" sz="3000">
                <a:solidFill>
                  <a:srgbClr val="3A4A21"/>
                </a:solidFill>
              </a:rPr>
              <a:t>  }}])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F7F672-99E3-4C36-C5A7-08312165B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7043488"/>
            <a:ext cx="108966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Điểm đặc biệt: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Sử dụng toán tử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$addToSet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Tác dụng:</a:t>
            </a:r>
            <a:endParaRPr kumimoji="0" lang="en-US" altLang="en-US" sz="3000" b="0" i="0" u="none" strike="noStrike" cap="none" normalizeH="0" baseline="0">
              <a:ln>
                <a:noFill/>
              </a:ln>
              <a:solidFill>
                <a:srgbClr val="3A4A2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Nếu giảng viên quản lý 100 sinh viên thuộc 2 lớp khác nhau.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$addToSet sẽ gom lại thành mảng gọn gàng: ["DA23TTA", "DA23TTC"] thay vì liệt kê 100 lần mã lớp.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Ý nghĩa: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Giúp quản lý khối lượng công việc của giảng viên hiệu quả.</a:t>
            </a:r>
          </a:p>
        </p:txBody>
      </p:sp>
      <p:pic>
        <p:nvPicPr>
          <p:cNvPr id="9219" name="Picture 3">
            <a:extLst>
              <a:ext uri="{FF2B5EF4-FFF2-40B4-BE49-F238E27FC236}">
                <a16:creationId xmlns:a16="http://schemas.microsoft.com/office/drawing/2014/main" id="{21D3B813-9E36-B7A4-636D-70DC76722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1457270"/>
            <a:ext cx="8732223" cy="4974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2202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033E96-BF5D-49C8-2138-27BE2E38D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4FC1E083-9BEF-2DF5-9C6C-F5D04B4ED848}"/>
              </a:ext>
            </a:extLst>
          </p:cNvPr>
          <p:cNvSpPr txBox="1"/>
          <p:nvPr/>
        </p:nvSpPr>
        <p:spPr>
          <a:xfrm>
            <a:off x="651510" y="419100"/>
            <a:ext cx="8797290" cy="1065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8799"/>
              </a:lnSpc>
            </a:pPr>
            <a:r>
              <a:rPr lang="en-US" sz="6000" b="1">
                <a:solidFill>
                  <a:srgbClr val="3A4A21"/>
                </a:solidFill>
              </a:rPr>
              <a:t>THỐNG KÊ PHÂN BỐ ĐỊA LÝ</a:t>
            </a:r>
            <a:endParaRPr lang="en-US" sz="6000" b="1">
              <a:solidFill>
                <a:srgbClr val="3A4A21"/>
              </a:solidFill>
              <a:latin typeface="Gilda Display"/>
              <a:ea typeface="Gilda Display"/>
              <a:cs typeface="Gilda Display"/>
              <a:sym typeface="Gilda Display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7C9888-ADDA-851B-E0F5-8CEAE1E17EC7}"/>
              </a:ext>
            </a:extLst>
          </p:cNvPr>
          <p:cNvSpPr txBox="1"/>
          <p:nvPr/>
        </p:nvSpPr>
        <p:spPr>
          <a:xfrm>
            <a:off x="666750" y="1484200"/>
            <a:ext cx="1106805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>
                <a:solidFill>
                  <a:srgbClr val="3A4A21"/>
                </a:solidFill>
              </a:rPr>
              <a:t>db.sinh_vien.aggregate([</a:t>
            </a:r>
          </a:p>
          <a:p>
            <a:r>
              <a:rPr lang="en-US" sz="3000">
                <a:solidFill>
                  <a:srgbClr val="3A4A21"/>
                </a:solidFill>
              </a:rPr>
              <a:t> { $group: {</a:t>
            </a:r>
          </a:p>
          <a:p>
            <a:r>
              <a:rPr lang="en-US" sz="3000">
                <a:solidFill>
                  <a:srgbClr val="3A4A21"/>
                </a:solidFill>
              </a:rPr>
              <a:t>     _id: null,</a:t>
            </a:r>
          </a:p>
          <a:p>
            <a:r>
              <a:rPr lang="en-US" sz="3000">
                <a:solidFill>
                  <a:srgbClr val="3A4A21"/>
                </a:solidFill>
              </a:rPr>
              <a:t>      sv_tra_vinh: { </a:t>
            </a:r>
          </a:p>
          <a:p>
            <a:r>
              <a:rPr lang="en-US" sz="3000">
                <a:solidFill>
                  <a:srgbClr val="3A4A21"/>
                </a:solidFill>
              </a:rPr>
              <a:t>      $sum: { $cond: [ { $regexMatch: { input: 	"$dia_chi.dia_chi_thuong_tru", 	</a:t>
            </a:r>
          </a:p>
          <a:p>
            <a:r>
              <a:rPr lang="en-US" sz="3000">
                <a:solidFill>
                  <a:srgbClr val="3A4A21"/>
                </a:solidFill>
              </a:rPr>
              <a:t>	regex: "Trà Vinh", options: "i" } }, 1, 0 ] } },</a:t>
            </a:r>
          </a:p>
          <a:p>
            <a:r>
              <a:rPr lang="en-US" sz="3000">
                <a:solidFill>
                  <a:srgbClr val="3A4A21"/>
                </a:solidFill>
              </a:rPr>
              <a:t>      sv_vinh_long: { </a:t>
            </a:r>
          </a:p>
          <a:p>
            <a:r>
              <a:rPr lang="en-US" sz="3000">
                <a:solidFill>
                  <a:srgbClr val="3A4A21"/>
                </a:solidFill>
              </a:rPr>
              <a:t>      $sum: { $cond: [ { $regexMatch: { input: 	"$dia_chi.dia_chi_thuong_tru", 	</a:t>
            </a:r>
          </a:p>
          <a:p>
            <a:r>
              <a:rPr lang="en-US" sz="3000">
                <a:solidFill>
                  <a:srgbClr val="3A4A21"/>
                </a:solidFill>
              </a:rPr>
              <a:t>	regex: "Vĩnh Long", options: "i" } }, 1, 0 ] } },</a:t>
            </a:r>
          </a:p>
          <a:p>
            <a:r>
              <a:rPr lang="en-US" sz="3000">
                <a:solidFill>
                  <a:srgbClr val="3A4A21"/>
                </a:solidFill>
              </a:rPr>
              <a:t>      tong_cong: { $sum: 1 }}},</a:t>
            </a:r>
          </a:p>
          <a:p>
            <a:r>
              <a:rPr lang="en-US" sz="3000">
                <a:solidFill>
                  <a:srgbClr val="3A4A21"/>
                </a:solidFill>
              </a:rPr>
              <a:t>  {$merge: { into: "thong_ke_dia_ly", </a:t>
            </a:r>
          </a:p>
          <a:p>
            <a:r>
              <a:rPr lang="en-US" sz="3000">
                <a:solidFill>
                  <a:srgbClr val="3A4A21"/>
                </a:solidFill>
              </a:rPr>
              <a:t>     on: "_id", whenMatched: "replace", </a:t>
            </a:r>
          </a:p>
          <a:p>
            <a:r>
              <a:rPr lang="en-US" sz="3000">
                <a:solidFill>
                  <a:srgbClr val="3A4A21"/>
                </a:solidFill>
              </a:rPr>
              <a:t>     whenNotMatched: "insert" } }</a:t>
            </a:r>
          </a:p>
          <a:p>
            <a:r>
              <a:rPr lang="en-US" sz="3000">
                <a:solidFill>
                  <a:srgbClr val="3A4A21"/>
                </a:solidFill>
              </a:rPr>
              <a:t>])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AFD57A-3BE3-EC23-58B1-A77521A37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7024316"/>
            <a:ext cx="9906000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Thách thức: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Dữ liệu địa chỉ là chuỗi văn bản tự do (Free-text), không có trường "Tỉnh/Thành" riêng biệt.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Giải pháp: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Sử dụng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$regexMatch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ngay trong luồng thống kê.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Kết quả: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Hệ thống vẫn đếm chính xác số lượng sinh viên theo từng tỉnh thành dựa trên từ khóa trong địa chỉ.</a:t>
            </a:r>
          </a:p>
        </p:txBody>
      </p:sp>
      <p:pic>
        <p:nvPicPr>
          <p:cNvPr id="10241" name="Picture 1">
            <a:extLst>
              <a:ext uri="{FF2B5EF4-FFF2-40B4-BE49-F238E27FC236}">
                <a16:creationId xmlns:a16="http://schemas.microsoft.com/office/drawing/2014/main" id="{C7A9D61E-952F-4B4B-7EBB-ACEB2B0BF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1484200"/>
            <a:ext cx="9467989" cy="464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2810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945975">
            <a:off x="15101778" y="-5016438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solidFill>
                <a:srgbClr val="3A4A21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56104" y="597691"/>
            <a:ext cx="11650183" cy="1065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8799"/>
              </a:lnSpc>
            </a:pPr>
            <a:r>
              <a:rPr lang="en-US" sz="6000" b="1">
                <a:solidFill>
                  <a:srgbClr val="3A4A21"/>
                </a:solidFill>
              </a:rPr>
              <a:t>ĐÁNH GIÁ KẾT QUẢ NGHIÊN CỨU</a:t>
            </a:r>
            <a:endParaRPr lang="en-US" sz="6000" b="1">
              <a:solidFill>
                <a:srgbClr val="3A4A21"/>
              </a:solidFill>
              <a:latin typeface="Gilda Display"/>
              <a:ea typeface="Gilda Display"/>
              <a:cs typeface="Gilda Display"/>
              <a:sym typeface="Gilda Display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95F127C7-2B6E-8D5B-9000-A2CAAACBF788}"/>
              </a:ext>
            </a:extLst>
          </p:cNvPr>
          <p:cNvSpPr txBox="1"/>
          <p:nvPr/>
        </p:nvSpPr>
        <p:spPr>
          <a:xfrm>
            <a:off x="533400" y="2174081"/>
            <a:ext cx="113347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999" b="1" u="none">
                <a:solidFill>
                  <a:srgbClr val="3A4A21"/>
                </a:solidFill>
                <a:latin typeface="+mj-lt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C1884-8CBB-ECD4-BD46-C7CB0068C681}"/>
              </a:ext>
            </a:extLst>
          </p:cNvPr>
          <p:cNvSpPr txBox="1"/>
          <p:nvPr/>
        </p:nvSpPr>
        <p:spPr>
          <a:xfrm>
            <a:off x="1562100" y="2176555"/>
            <a:ext cx="2643187" cy="461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3A4A21"/>
                </a:solidFill>
                <a:latin typeface="+mj-lt"/>
                <a:ea typeface="HK Grotesk Bold"/>
                <a:cs typeface="HK Grotesk Bold"/>
                <a:sym typeface="HK Grotesk Bold"/>
              </a:rPr>
              <a:t>Ưu điểm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D4C31CF-9D43-B940-E940-E4F5BE683808}"/>
              </a:ext>
            </a:extLst>
          </p:cNvPr>
          <p:cNvSpPr txBox="1"/>
          <p:nvPr/>
        </p:nvSpPr>
        <p:spPr>
          <a:xfrm>
            <a:off x="8534400" y="2171700"/>
            <a:ext cx="113347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999" b="1" u="none">
                <a:solidFill>
                  <a:srgbClr val="3A4A21"/>
                </a:solidFill>
                <a:latin typeface="+mj-lt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2D2383F-F2A6-64DB-E3EB-2261B8DC6C62}"/>
              </a:ext>
            </a:extLst>
          </p:cNvPr>
          <p:cNvSpPr txBox="1"/>
          <p:nvPr/>
        </p:nvSpPr>
        <p:spPr>
          <a:xfrm>
            <a:off x="9479281" y="2174081"/>
            <a:ext cx="248412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3A4A21"/>
                </a:solidFill>
                <a:latin typeface="+mj-lt"/>
                <a:ea typeface="HK Grotesk Bold"/>
                <a:cs typeface="HK Grotesk Bold"/>
                <a:sym typeface="HK Grotesk Bold"/>
              </a:rPr>
              <a:t>Nhược điểm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FB8166AD-BD89-CF7F-B2B8-C7DBAFDAE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2" y="2914181"/>
            <a:ext cx="671512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Hiệu năng truy xuất cao: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Tốc độ đọc hồ sơ nhanh vượt trội nhờ chiến lược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Nhúng (Embedding)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, loại bỏ hoàn toàn các phép nối bảng (JOIN) tốn tài nguyên.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Tính linh hoạt (Flexible):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Dễ dàng bổ sung các trường thông tin mới (VD: chứng chỉ, kỹ năng) cho từng sinh viên mà không cần sửa đổi cấu trúc toàn bộ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000" b="1">
                <a:solidFill>
                  <a:srgbClr val="3A4A21"/>
                </a:solidFill>
                <a:latin typeface="+mj-lt"/>
              </a:rPr>
              <a:t>-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Xử lý báo cáo mạnh mẽ: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Công cụ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Aggregation Pipeline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cho phép thực hiện các thống kê đa chiều phức tạp một cách tự động và chính xác.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64185197-64F8-422A-4946-22F371CC0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0" y="2914181"/>
            <a:ext cx="83058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Dư thừa dữ liệu: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Do nhúng dữ liệu, thông tin về </a:t>
            </a:r>
            <a:r>
              <a:rPr kumimoji="0" lang="en-US" altLang="en-US" sz="3000" b="0" i="1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Lớp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và </a:t>
            </a:r>
            <a:r>
              <a:rPr kumimoji="0" lang="en-US" altLang="en-US" sz="3000" b="0" i="1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Khoa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bị lặp lại trong mỗi hồ sơ sinh viên, gây tốn dung lượng lưu trữ hơn so với SQL.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</a:t>
            </a:r>
            <a:r>
              <a:rPr lang="en-US" sz="3000" b="1">
                <a:solidFill>
                  <a:srgbClr val="3A4A21"/>
                </a:solidFill>
                <a:latin typeface="+mj-lt"/>
              </a:rPr>
              <a:t>Rủi ro về tính nhất quán dữ liệu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Khi sửa đổi thông tin chung (VD: Tên Khoa đổi), hệ thống phải thực hiện cập nhật hàng loạt (updateMany) trên tất cả sinh viên để đảm bảo đồng bộ.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- Kiểm soát toàn vẹn: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3A4A21"/>
                </a:solidFill>
                <a:effectLst/>
                <a:latin typeface="+mj-lt"/>
              </a:rPr>
              <a:t> Thiếu ràng buộc khóa ngoại mặc định, việc kiểm soát lỗi dữ liệu hoàn toàn phụ thuộc vào logic của ứng dụng (Backend).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3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666750" y="795337"/>
            <a:ext cx="11677650" cy="1049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8799"/>
              </a:lnSpc>
            </a:pPr>
            <a:r>
              <a:rPr lang="vi-VN" sz="6000" b="1">
                <a:solidFill>
                  <a:srgbClr val="3A4A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KẾT LUẬN VÀ HƯỚNG PHÁT TRIỂN</a:t>
            </a:r>
            <a:endParaRPr lang="en-US" sz="6000" b="1">
              <a:solidFill>
                <a:srgbClr val="3A4A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Gilda Display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A18333E-BA08-1620-0679-80ED98DCF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" y="1931730"/>
            <a:ext cx="17087850" cy="7478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1. KẾT LUẬN (Đã đạt được)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 Xây dựng thành công: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Mô hình dữ liệu NoSQL cho hồ sơ sinh viên, áp dụng hiệu quả chiến lược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Nhúng (Embedding)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để lưu trữ thông tin liền mạch.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 </a:t>
            </a:r>
            <a:r>
              <a:rPr lang="en-US" altLang="en-US" sz="3000" b="1">
                <a:latin typeface="+mj-lt"/>
              </a:rPr>
              <a:t>Hiệu xuất truy vấn nhanh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Chứng minh được ưu thế của MongoDB về tốc độ truy xuất dữ liệu (Read-heavy) so với CSDL quan hệ truyền thống.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 Thống kê tự động: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Khai thác sức mạnh của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Aggregation Pipeline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để tạo ra các báo cáo thống kê chính xác (sĩ số, địa lý, giảng viên) mà không cần code phức tạp.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 Nghiệp vụ hoàn chỉnh: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Hiện thực hóa đầy đủ các thao tác quản lý dữ liệu từ cơ bản (CRUD) đến nâng cao (Tìm kiếm Regex).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2. HƯỚNG PHÁT TRIỂN (Tương lai)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 Xây dựng Backend: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Phát triển hệ thống máy chủ (sử dụng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Node.js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và cung cấp chuẩn kết nối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RESTful API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để phục vụ cho các ứng dụng Web/Mobile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 Tăng cường bảo mật: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Tích hợp cơ chế xác thực người dùng (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JWT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và phân quyền truy cập chặt chẽ cho Giảng viên/Sinh viên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 Triển khai Cloud &amp; Sharding: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Đưa hệ thống lên nền tảng đám mây (AWS/Azure) và áp dụng kỹ thuật </a:t>
            </a:r>
            <a:r>
              <a:rPr kumimoji="0" lang="en-US" altLang="en-US" sz="3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Phân mảnh (Sharding)</a:t>
            </a: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để đáp ứng quy mô dữ liệu lớn hàng chục ngàn sinh viên 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300848">
            <a:off x="12064338" y="5278644"/>
            <a:ext cx="13730046" cy="12931207"/>
          </a:xfrm>
          <a:custGeom>
            <a:avLst/>
            <a:gdLst/>
            <a:ahLst/>
            <a:cxnLst/>
            <a:rect l="l" t="t" r="r" b="b"/>
            <a:pathLst>
              <a:path w="13730046" h="12931207">
                <a:moveTo>
                  <a:pt x="0" y="0"/>
                </a:moveTo>
                <a:lnTo>
                  <a:pt x="13730046" y="0"/>
                </a:lnTo>
                <a:lnTo>
                  <a:pt x="13730046" y="12931207"/>
                </a:lnTo>
                <a:lnTo>
                  <a:pt x="0" y="12931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671762" y="3619500"/>
            <a:ext cx="12944475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99"/>
              </a:lnSpc>
            </a:pPr>
            <a:r>
              <a:rPr lang="en-US" sz="8799">
                <a:solidFill>
                  <a:srgbClr val="3A4A21"/>
                </a:solidFill>
                <a:latin typeface="+mj-lt"/>
                <a:ea typeface="Gilda Display"/>
                <a:cs typeface="Gilda Display"/>
                <a:sym typeface="Gilda Display"/>
              </a:rPr>
              <a:t>THANK FOR WATCHING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9C9C1C6-A140-4BF6-B935-43CFEAB5A21B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4243</Words>
  <Application>Microsoft Office PowerPoint</Application>
  <PresentationFormat>Custom</PresentationFormat>
  <Paragraphs>323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Calibri</vt:lpstr>
      <vt:lpstr>Gilda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thuyết trình - MongoDB: The NoSQL Document Database</dc:title>
  <dc:description>Bài thuyết trình - MongoDB: The NoSQL Document Database</dc:description>
  <cp:lastModifiedBy>Bé Gấu</cp:lastModifiedBy>
  <cp:revision>4</cp:revision>
  <dcterms:created xsi:type="dcterms:W3CDTF">2006-08-16T00:00:00Z</dcterms:created>
  <dcterms:modified xsi:type="dcterms:W3CDTF">2026-01-02T14:45:41Z</dcterms:modified>
  <dc:identifier>DAG9K3qeb7k</dc:identifier>
</cp:coreProperties>
</file>